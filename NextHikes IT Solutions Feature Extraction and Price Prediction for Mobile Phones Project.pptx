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4" r:id="rId16"/>
    <p:sldId id="271" r:id="rId17"/>
    <p:sldId id="272" r:id="rId18"/>
    <p:sldId id="273" r:id="rId19"/>
    <p:sldId id="25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ul srivastava" userId="a56b37f0866fee59" providerId="LiveId" clId="{6472C41C-EB63-487D-B01B-3B67E05C2277}"/>
    <pc:docChg chg="modSld">
      <pc:chgData name="parul srivastava" userId="a56b37f0866fee59" providerId="LiveId" clId="{6472C41C-EB63-487D-B01B-3B67E05C2277}" dt="2026-03-08T22:36:01.541" v="0" actId="1076"/>
      <pc:docMkLst>
        <pc:docMk/>
      </pc:docMkLst>
      <pc:sldChg chg="modSp mod">
        <pc:chgData name="parul srivastava" userId="a56b37f0866fee59" providerId="LiveId" clId="{6472C41C-EB63-487D-B01B-3B67E05C2277}" dt="2026-03-08T22:36:01.541" v="0" actId="1076"/>
        <pc:sldMkLst>
          <pc:docMk/>
          <pc:sldMk cId="2103138928" sldId="256"/>
        </pc:sldMkLst>
        <pc:spChg chg="mod">
          <ac:chgData name="parul srivastava" userId="a56b37f0866fee59" providerId="LiveId" clId="{6472C41C-EB63-487D-B01B-3B67E05C2277}" dt="2026-03-08T22:36:01.541" v="0" actId="1076"/>
          <ac:spMkLst>
            <pc:docMk/>
            <pc:sldMk cId="2103138928" sldId="256"/>
            <ac:spMk id="2" creationId="{F718231D-513F-7E1C-E471-C22AE9F8A27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728F-92CF-3DC9-CD9E-2E3A68C739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E69586-E01B-213C-4F76-540BFBF30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6F92EE-83D8-E9DD-29D3-0CD38EDED917}"/>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58B0F07C-290F-AD04-DA15-80725EAF57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B5525D-BADB-3521-A0E8-E4CF6A6A87DC}"/>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817604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79CDF-F467-818D-85CE-E5D82401CD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0816CA-B737-10B5-20F7-6E174C5F78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1C27F3-5CD4-71CF-227C-3A384DE12858}"/>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A5F99BD7-BA01-673B-0D37-A8AFEBBC72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A87E49-E74B-815A-1BD6-954474150762}"/>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157233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C219-9A3A-E221-9827-9AB0C60E83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96EF3E-24EE-B70F-0965-85BFF04EE0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850015-6A00-173F-7108-201585F70848}"/>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7FAFABE4-3D22-FB44-3BE3-D994A7B5C5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768702-5D29-B1D9-FB25-D8ED2AF8AC6D}"/>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321303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36E7E-2998-D9EA-96F2-2D6D6ADB23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F633ED-C989-D088-8714-9CD282483E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0F44C8-D556-56A8-EAE1-35EF39CD63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4294CA-1594-FA16-B5E8-A5EE570AEB07}"/>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6" name="Footer Placeholder 5">
            <a:extLst>
              <a:ext uri="{FF2B5EF4-FFF2-40B4-BE49-F238E27FC236}">
                <a16:creationId xmlns:a16="http://schemas.microsoft.com/office/drawing/2014/main" id="{218FC6F3-DAE8-7C19-4891-ECDD5397E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70AA0D-B6A5-CAAA-E7A9-BFE3DA1AF4FA}"/>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1930328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A881-9865-61C5-BF04-A3550002B7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2763DF-9648-81B5-F446-54D678A7B0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549C7F-8A47-D0A7-F057-F6F8BE6A03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4830D22-F014-E292-FF47-8DC3F4F6D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B31EE-4F32-B062-5E3F-B9E4B33C65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3B812D-89AC-8C42-F2BB-4BD6F68BA6DD}"/>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8" name="Footer Placeholder 7">
            <a:extLst>
              <a:ext uri="{FF2B5EF4-FFF2-40B4-BE49-F238E27FC236}">
                <a16:creationId xmlns:a16="http://schemas.microsoft.com/office/drawing/2014/main" id="{3FE02991-A463-3818-40E5-51CD40E849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E95F01-39AA-B655-F42F-F044F116AE3D}"/>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3131778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EF20E-A911-7F3C-01A4-A596C622596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1AC4FE-974F-382C-E9B9-EFBAEBE1E5B1}"/>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4" name="Footer Placeholder 3">
            <a:extLst>
              <a:ext uri="{FF2B5EF4-FFF2-40B4-BE49-F238E27FC236}">
                <a16:creationId xmlns:a16="http://schemas.microsoft.com/office/drawing/2014/main" id="{10635C53-4925-C3BA-9E3A-69933CC5B2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7AD8B1-D0C3-9363-AECF-34A2AC01F790}"/>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364300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F2D5FA-DE96-461B-FC74-3ABC45F93123}"/>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3" name="Footer Placeholder 2">
            <a:extLst>
              <a:ext uri="{FF2B5EF4-FFF2-40B4-BE49-F238E27FC236}">
                <a16:creationId xmlns:a16="http://schemas.microsoft.com/office/drawing/2014/main" id="{8D5F4578-6581-18E8-0F1E-32F7940961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3A553E-F87D-45A0-D8F4-BF93417D897C}"/>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2193084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C4AC-4B65-F810-F5A2-EB80E8023E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14383B-1595-E727-512E-633227B957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FEE713-CF2B-0A69-D9B1-B2B5D55DD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85B37-BDC7-C474-9062-6B2F2BD198EF}"/>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6" name="Footer Placeholder 5">
            <a:extLst>
              <a:ext uri="{FF2B5EF4-FFF2-40B4-BE49-F238E27FC236}">
                <a16:creationId xmlns:a16="http://schemas.microsoft.com/office/drawing/2014/main" id="{1E0601AE-4000-1EE6-0AA0-379D75C8B6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981709-74FC-6AA3-015A-0FA3F67B5543}"/>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3218726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A2A9-2780-23D8-EA9B-633854AE1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9BDD69-27AA-1FE4-B326-301BF38D24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33BA79-6981-297D-A773-20FAB3DB6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98DA9F-FD4F-8804-D121-33D771B75C2C}"/>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6" name="Footer Placeholder 5">
            <a:extLst>
              <a:ext uri="{FF2B5EF4-FFF2-40B4-BE49-F238E27FC236}">
                <a16:creationId xmlns:a16="http://schemas.microsoft.com/office/drawing/2014/main" id="{F4949338-0430-04BD-871D-EFA917023E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5BE83A-210A-001B-4916-E90972FC7730}"/>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1496588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F9E50-B1FF-C3D6-2C67-A770C95414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560DA7-2290-0F1E-56C0-B5DE391A2E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443E5F-566C-052D-02C9-8AA477A736B1}"/>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03140C4D-BD14-F240-3C97-59AD95EA1A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6C0D1E-DC45-B93A-4575-7D4EB29CDDF6}"/>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2301270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BC649D-EC82-9D8A-D98F-D7B4AD292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09EE4B-0F6D-EE85-7B3F-59A325FC25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4874D8-09A3-66FE-4705-CC4BFE28A577}"/>
              </a:ext>
            </a:extLst>
          </p:cNvPr>
          <p:cNvSpPr>
            <a:spLocks noGrp="1"/>
          </p:cNvSpPr>
          <p:nvPr>
            <p:ph type="dt" sz="half" idx="10"/>
          </p:nvPr>
        </p:nvSpPr>
        <p:spPr/>
        <p:txBody>
          <a:body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2D8A22F4-A0D6-7B94-2FC2-D2332D8E5C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B729B-325F-1D3B-E80C-ABDBDE4A76F4}"/>
              </a:ext>
            </a:extLst>
          </p:cNvPr>
          <p:cNvSpPr>
            <a:spLocks noGrp="1"/>
          </p:cNvSpPr>
          <p:nvPr>
            <p:ph type="sldNum" sz="quarter" idx="12"/>
          </p:nvPr>
        </p:nvSpPr>
        <p:spPr/>
        <p:txBody>
          <a:bodyPr/>
          <a:lstStyle/>
          <a:p>
            <a:fld id="{E5F89375-C9ED-40D8-89A3-3C16C2E757A0}" type="slidenum">
              <a:rPr lang="en-IN" smtClean="0"/>
              <a:t>‹#›</a:t>
            </a:fld>
            <a:endParaRPr lang="en-IN"/>
          </a:p>
        </p:txBody>
      </p:sp>
    </p:spTree>
    <p:extLst>
      <p:ext uri="{BB962C8B-B14F-4D97-AF65-F5344CB8AC3E}">
        <p14:creationId xmlns:p14="http://schemas.microsoft.com/office/powerpoint/2010/main" val="405887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F1E0FD-7E3D-22B7-B087-60A9EDE430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06EBC1-A6E3-7227-806C-66A2B847E2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B98BBC-B690-08C8-9C0E-1A12A80566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7287B-BA26-48C2-A58F-49F4D6225B03}" type="datetimeFigureOut">
              <a:rPr lang="en-IN" smtClean="0"/>
              <a:t>09-03-2026</a:t>
            </a:fld>
            <a:endParaRPr lang="en-IN"/>
          </a:p>
        </p:txBody>
      </p:sp>
      <p:sp>
        <p:nvSpPr>
          <p:cNvPr id="5" name="Footer Placeholder 4">
            <a:extLst>
              <a:ext uri="{FF2B5EF4-FFF2-40B4-BE49-F238E27FC236}">
                <a16:creationId xmlns:a16="http://schemas.microsoft.com/office/drawing/2014/main" id="{3709B434-8277-C301-9F97-992207B54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B65D6E-83F9-E58C-AB8A-F6D0828E6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89375-C9ED-40D8-89A3-3C16C2E757A0}" type="slidenum">
              <a:rPr lang="en-IN" smtClean="0"/>
              <a:t>‹#›</a:t>
            </a:fld>
            <a:endParaRPr lang="en-IN"/>
          </a:p>
        </p:txBody>
      </p:sp>
    </p:spTree>
    <p:extLst>
      <p:ext uri="{BB962C8B-B14F-4D97-AF65-F5344CB8AC3E}">
        <p14:creationId xmlns:p14="http://schemas.microsoft.com/office/powerpoint/2010/main" val="2029666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8231D-513F-7E1C-E471-C22AE9F8A27F}"/>
              </a:ext>
            </a:extLst>
          </p:cNvPr>
          <p:cNvSpPr>
            <a:spLocks noGrp="1"/>
          </p:cNvSpPr>
          <p:nvPr>
            <p:ph type="ctrTitle"/>
          </p:nvPr>
        </p:nvSpPr>
        <p:spPr>
          <a:xfrm>
            <a:off x="1524000" y="2235200"/>
            <a:ext cx="9144000" cy="2387600"/>
          </a:xfrm>
        </p:spPr>
        <p:txBody>
          <a:bodyPr>
            <a:normAutofit fontScale="90000"/>
          </a:bodyPr>
          <a:lstStyle/>
          <a:p>
            <a:r>
              <a:rPr lang="en-US" dirty="0" err="1">
                <a:ln w="0"/>
                <a:solidFill>
                  <a:schemeClr val="accent1"/>
                </a:solidFill>
                <a:effectLst>
                  <a:outerShdw blurRad="38100" dist="25400" dir="5400000" algn="ctr" rotWithShape="0">
                    <a:srgbClr val="6E747A">
                      <a:alpha val="43000"/>
                    </a:srgbClr>
                  </a:outerShdw>
                </a:effectLst>
              </a:rPr>
              <a:t>NextHikes</a:t>
            </a:r>
            <a:r>
              <a:rPr lang="en-US" dirty="0">
                <a:ln w="0"/>
                <a:solidFill>
                  <a:schemeClr val="accent1"/>
                </a:solidFill>
                <a:effectLst>
                  <a:outerShdw blurRad="38100" dist="25400" dir="5400000" algn="ctr" rotWithShape="0">
                    <a:srgbClr val="6E747A">
                      <a:alpha val="43000"/>
                    </a:srgbClr>
                  </a:outerShdw>
                </a:effectLst>
              </a:rPr>
              <a:t> IT Solutions </a:t>
            </a:r>
            <a:br>
              <a:rPr lang="en-IN" dirty="0"/>
            </a:br>
            <a:br>
              <a:rPr lang="en-IN" dirty="0"/>
            </a:br>
            <a:r>
              <a:rPr lang="en-US" dirty="0"/>
              <a:t> </a:t>
            </a:r>
            <a:r>
              <a:rPr lang="en-US" dirty="0">
                <a:ln w="0"/>
                <a:solidFill>
                  <a:schemeClr val="accent1"/>
                </a:solidFill>
                <a:effectLst>
                  <a:outerShdw blurRad="38100" dist="25400" dir="5400000" algn="ctr" rotWithShape="0">
                    <a:srgbClr val="6E747A">
                      <a:alpha val="43000"/>
                    </a:srgbClr>
                  </a:outerShdw>
                </a:effectLst>
              </a:rPr>
              <a:t>Mobile Phone Price Prediction Using Machine Learning and Feature Importance Analysis</a:t>
            </a:r>
            <a:endParaRPr lang="en-IN" dirty="0">
              <a:ln w="0"/>
              <a:solidFill>
                <a:schemeClr val="accent1"/>
              </a:solidFill>
              <a:effectLst>
                <a:outerShdw blurRad="38100" dist="25400" dir="5400000" algn="ctr" rotWithShape="0">
                  <a:srgbClr val="6E747A">
                    <a:alpha val="43000"/>
                  </a:srgbClr>
                </a:outerShdw>
              </a:effectLst>
            </a:endParaRPr>
          </a:p>
        </p:txBody>
      </p:sp>
      <p:sp>
        <p:nvSpPr>
          <p:cNvPr id="3" name="Subtitle 2">
            <a:extLst>
              <a:ext uri="{FF2B5EF4-FFF2-40B4-BE49-F238E27FC236}">
                <a16:creationId xmlns:a16="http://schemas.microsoft.com/office/drawing/2014/main" id="{2B0CF110-C37C-48B7-7FA2-8D80FBD89130}"/>
              </a:ext>
            </a:extLst>
          </p:cNvPr>
          <p:cNvSpPr>
            <a:spLocks noGrp="1"/>
          </p:cNvSpPr>
          <p:nvPr>
            <p:ph type="subTitle" idx="1"/>
          </p:nvPr>
        </p:nvSpPr>
        <p:spPr>
          <a:xfrm>
            <a:off x="7590503" y="5902786"/>
            <a:ext cx="4345858" cy="468517"/>
          </a:xfrm>
        </p:spPr>
        <p:txBody>
          <a:bodyPr/>
          <a:lstStyle/>
          <a:p>
            <a:r>
              <a:rPr lang="en-US" dirty="0"/>
              <a:t>- Presented by Parul Srivastava</a:t>
            </a:r>
            <a:endParaRPr lang="en-IN" dirty="0"/>
          </a:p>
        </p:txBody>
      </p:sp>
    </p:spTree>
    <p:extLst>
      <p:ext uri="{BB962C8B-B14F-4D97-AF65-F5344CB8AC3E}">
        <p14:creationId xmlns:p14="http://schemas.microsoft.com/office/powerpoint/2010/main" val="2103138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F7F5-5532-2BE2-A605-AF5B253F3266}"/>
              </a:ext>
            </a:extLst>
          </p:cNvPr>
          <p:cNvSpPr>
            <a:spLocks noGrp="1"/>
          </p:cNvSpPr>
          <p:nvPr>
            <p:ph type="title"/>
          </p:nvPr>
        </p:nvSpPr>
        <p:spPr>
          <a:xfrm>
            <a:off x="631723" y="205068"/>
            <a:ext cx="10515600" cy="1325563"/>
          </a:xfrm>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E82E1CEE-2DAF-24ED-8B41-737E35045139}"/>
              </a:ext>
            </a:extLst>
          </p:cNvPr>
          <p:cNvSpPr>
            <a:spLocks noGrp="1"/>
          </p:cNvSpPr>
          <p:nvPr>
            <p:ph idx="1"/>
          </p:nvPr>
        </p:nvSpPr>
        <p:spPr>
          <a:xfrm>
            <a:off x="631723" y="1638812"/>
            <a:ext cx="10515600" cy="4351338"/>
          </a:xfrm>
        </p:spPr>
        <p:txBody>
          <a:bodyPr>
            <a:normAutofit fontScale="85000" lnSpcReduction="20000"/>
          </a:bodyPr>
          <a:lstStyle/>
          <a:p>
            <a:r>
              <a:rPr lang="en-US" dirty="0"/>
              <a:t>This project aims to predict the price of mobile phones using machine learning techniques based on their specifications. </a:t>
            </a:r>
          </a:p>
          <a:p>
            <a:r>
              <a:rPr lang="en-US" dirty="0"/>
              <a:t>The dataset includes features such as RAM, storage, processor type, battery capacity, camera specifications, and model attributes. </a:t>
            </a:r>
          </a:p>
          <a:p>
            <a:r>
              <a:rPr lang="en-US" dirty="0"/>
              <a:t>The analysis involves data exploration, preprocessing, feature engineering, and model training. </a:t>
            </a:r>
          </a:p>
          <a:p>
            <a:r>
              <a:rPr lang="en-US" dirty="0"/>
              <a:t>Multiple regression algorithms including Linear Regression, Random Forest, and Gradient Boosting were used to build predictive models. </a:t>
            </a:r>
          </a:p>
          <a:p>
            <a:r>
              <a:rPr lang="en-US" dirty="0"/>
              <a:t>Feature extraction techniques such as correlation analysis, visualization, and Random Forest feature importance were applied to identify the most influential variables affecting smartphone prices. </a:t>
            </a:r>
          </a:p>
          <a:p>
            <a:r>
              <a:rPr lang="en-US" dirty="0"/>
              <a:t>The results indicate that hardware specifications such as RAM, storage capacity, battery size, and camera megapixels significantly influence smartphone pricing.</a:t>
            </a:r>
          </a:p>
          <a:p>
            <a:endParaRPr lang="en-IN" dirty="0"/>
          </a:p>
        </p:txBody>
      </p:sp>
    </p:spTree>
    <p:extLst>
      <p:ext uri="{BB962C8B-B14F-4D97-AF65-F5344CB8AC3E}">
        <p14:creationId xmlns:p14="http://schemas.microsoft.com/office/powerpoint/2010/main" val="3775917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44F94-EB97-AEE2-B8E3-4AF15397D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2D0D1-EB2D-EB00-37C6-8077030F07A4}"/>
              </a:ext>
            </a:extLst>
          </p:cNvPr>
          <p:cNvSpPr>
            <a:spLocks noGrp="1"/>
          </p:cNvSpPr>
          <p:nvPr>
            <p:ph type="title"/>
          </p:nvPr>
        </p:nvSpPr>
        <p:spPr>
          <a:xfrm>
            <a:off x="631723" y="205068"/>
            <a:ext cx="10515600" cy="1325563"/>
          </a:xfrm>
        </p:spPr>
        <p:txBody>
          <a:bodyPr/>
          <a:lstStyle/>
          <a:p>
            <a:r>
              <a:rPr lang="en-IN" dirty="0"/>
              <a:t>Introduction</a:t>
            </a:r>
          </a:p>
        </p:txBody>
      </p:sp>
      <p:sp>
        <p:nvSpPr>
          <p:cNvPr id="3" name="Content Placeholder 2">
            <a:extLst>
              <a:ext uri="{FF2B5EF4-FFF2-40B4-BE49-F238E27FC236}">
                <a16:creationId xmlns:a16="http://schemas.microsoft.com/office/drawing/2014/main" id="{51107862-F691-2DA2-CEBA-079B9668026E}"/>
              </a:ext>
            </a:extLst>
          </p:cNvPr>
          <p:cNvSpPr>
            <a:spLocks noGrp="1"/>
          </p:cNvSpPr>
          <p:nvPr>
            <p:ph idx="1"/>
          </p:nvPr>
        </p:nvSpPr>
        <p:spPr>
          <a:xfrm>
            <a:off x="631723" y="1638812"/>
            <a:ext cx="10515600" cy="3169162"/>
          </a:xfrm>
        </p:spPr>
        <p:txBody>
          <a:bodyPr>
            <a:normAutofit/>
          </a:bodyPr>
          <a:lstStyle/>
          <a:p>
            <a:r>
              <a:rPr lang="en-US" dirty="0"/>
              <a:t>The smartphone market is highly competitive, with pricing influenced by multiple technical specifications and brand-related features.</a:t>
            </a:r>
          </a:p>
          <a:p>
            <a:r>
              <a:rPr lang="en-US" dirty="0"/>
              <a:t>Understanding the relationship between device specifications and price helps organizations optimize product design and pricing strategies.</a:t>
            </a:r>
          </a:p>
          <a:p>
            <a:r>
              <a:rPr lang="en-US" dirty="0"/>
              <a:t>Machine learning provides powerful tools for identifying patterns in complex datasets and predicting prices based on product features.</a:t>
            </a:r>
          </a:p>
        </p:txBody>
      </p:sp>
    </p:spTree>
    <p:extLst>
      <p:ext uri="{BB962C8B-B14F-4D97-AF65-F5344CB8AC3E}">
        <p14:creationId xmlns:p14="http://schemas.microsoft.com/office/powerpoint/2010/main" val="402942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B0B4-91DA-3CC1-F3F7-D0A53FBA1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571DE-3C8B-8D51-A62E-5B67F4B3BB0F}"/>
              </a:ext>
            </a:extLst>
          </p:cNvPr>
          <p:cNvSpPr>
            <a:spLocks noGrp="1"/>
          </p:cNvSpPr>
          <p:nvPr>
            <p:ph type="title"/>
          </p:nvPr>
        </p:nvSpPr>
        <p:spPr>
          <a:xfrm>
            <a:off x="631723" y="205068"/>
            <a:ext cx="10515600" cy="1325563"/>
          </a:xfrm>
        </p:spPr>
        <p:txBody>
          <a:bodyPr/>
          <a:lstStyle/>
          <a:p>
            <a:r>
              <a:rPr lang="en-IN" dirty="0"/>
              <a:t>Dataset Description</a:t>
            </a:r>
          </a:p>
        </p:txBody>
      </p:sp>
      <p:sp>
        <p:nvSpPr>
          <p:cNvPr id="3" name="Content Placeholder 2">
            <a:extLst>
              <a:ext uri="{FF2B5EF4-FFF2-40B4-BE49-F238E27FC236}">
                <a16:creationId xmlns:a16="http://schemas.microsoft.com/office/drawing/2014/main" id="{F9806706-047A-D861-F375-3F837F76707A}"/>
              </a:ext>
            </a:extLst>
          </p:cNvPr>
          <p:cNvSpPr>
            <a:spLocks noGrp="1"/>
          </p:cNvSpPr>
          <p:nvPr>
            <p:ph idx="1"/>
          </p:nvPr>
        </p:nvSpPr>
        <p:spPr>
          <a:xfrm>
            <a:off x="631723" y="1366684"/>
            <a:ext cx="10928554" cy="4896464"/>
          </a:xfrm>
        </p:spPr>
        <p:txBody>
          <a:bodyPr>
            <a:normAutofit fontScale="77500" lnSpcReduction="20000"/>
          </a:bodyPr>
          <a:lstStyle/>
          <a:p>
            <a:r>
              <a:rPr lang="en-IN" dirty="0"/>
              <a:t>The dataset contains specifications of various smartphones with features including:</a:t>
            </a:r>
          </a:p>
          <a:p>
            <a:r>
              <a:rPr lang="en-IN" dirty="0"/>
              <a:t>Model</a:t>
            </a:r>
          </a:p>
          <a:p>
            <a:r>
              <a:rPr lang="en-IN" dirty="0"/>
              <a:t>Colour</a:t>
            </a:r>
          </a:p>
          <a:p>
            <a:r>
              <a:rPr lang="en-IN" dirty="0"/>
              <a:t>Processor</a:t>
            </a:r>
          </a:p>
          <a:p>
            <a:r>
              <a:rPr lang="en-IN" dirty="0"/>
              <a:t>RAM</a:t>
            </a:r>
          </a:p>
          <a:p>
            <a:r>
              <a:rPr lang="en-IN" dirty="0"/>
              <a:t>Memory (Storage)</a:t>
            </a:r>
          </a:p>
          <a:p>
            <a:r>
              <a:rPr lang="en-IN" dirty="0"/>
              <a:t>Battery Capacity</a:t>
            </a:r>
          </a:p>
          <a:p>
            <a:r>
              <a:rPr lang="en-IN" dirty="0"/>
              <a:t>Front Camera</a:t>
            </a:r>
          </a:p>
          <a:p>
            <a:r>
              <a:rPr lang="en-IN" dirty="0"/>
              <a:t>Rear Camera</a:t>
            </a:r>
          </a:p>
          <a:p>
            <a:r>
              <a:rPr lang="en-IN" dirty="0"/>
              <a:t>Mobile Dimensions</a:t>
            </a:r>
          </a:p>
          <a:p>
            <a:r>
              <a:rPr lang="en-IN" dirty="0"/>
              <a:t>AI Lens</a:t>
            </a:r>
          </a:p>
          <a:p>
            <a:r>
              <a:rPr lang="en-IN" dirty="0"/>
              <a:t>Price (Target Variable)</a:t>
            </a:r>
          </a:p>
          <a:p>
            <a:r>
              <a:rPr lang="en-IN" dirty="0"/>
              <a:t>Total observations represent multiple smartphone models across different brands.</a:t>
            </a:r>
          </a:p>
        </p:txBody>
      </p:sp>
    </p:spTree>
    <p:extLst>
      <p:ext uri="{BB962C8B-B14F-4D97-AF65-F5344CB8AC3E}">
        <p14:creationId xmlns:p14="http://schemas.microsoft.com/office/powerpoint/2010/main" val="361519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3D5CB-CA86-F960-0FFA-C9BF2D7AE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C3089-33F6-FE3A-F447-0644AC6CB714}"/>
              </a:ext>
            </a:extLst>
          </p:cNvPr>
          <p:cNvSpPr>
            <a:spLocks noGrp="1"/>
          </p:cNvSpPr>
          <p:nvPr>
            <p:ph type="title"/>
          </p:nvPr>
        </p:nvSpPr>
        <p:spPr>
          <a:xfrm>
            <a:off x="631723" y="205068"/>
            <a:ext cx="10515600" cy="1325563"/>
          </a:xfrm>
        </p:spPr>
        <p:txBody>
          <a:bodyPr/>
          <a:lstStyle/>
          <a:p>
            <a:r>
              <a:rPr lang="en-IN" dirty="0"/>
              <a:t>Data Exploration</a:t>
            </a:r>
          </a:p>
        </p:txBody>
      </p:sp>
      <p:sp>
        <p:nvSpPr>
          <p:cNvPr id="3" name="Content Placeholder 2">
            <a:extLst>
              <a:ext uri="{FF2B5EF4-FFF2-40B4-BE49-F238E27FC236}">
                <a16:creationId xmlns:a16="http://schemas.microsoft.com/office/drawing/2014/main" id="{2AD6069F-98A1-50A8-84D5-DDEFBB88CB6E}"/>
              </a:ext>
            </a:extLst>
          </p:cNvPr>
          <p:cNvSpPr>
            <a:spLocks noGrp="1"/>
          </p:cNvSpPr>
          <p:nvPr>
            <p:ph idx="1"/>
          </p:nvPr>
        </p:nvSpPr>
        <p:spPr>
          <a:xfrm>
            <a:off x="631723" y="1638812"/>
            <a:ext cx="10515600" cy="4351338"/>
          </a:xfrm>
        </p:spPr>
        <p:txBody>
          <a:bodyPr>
            <a:normAutofit fontScale="92500" lnSpcReduction="10000"/>
          </a:bodyPr>
          <a:lstStyle/>
          <a:p>
            <a:pPr marL="0" indent="0">
              <a:buNone/>
            </a:pPr>
            <a:r>
              <a:rPr lang="en-US" i="1" u="sng" dirty="0"/>
              <a:t>Initial exploration included:</a:t>
            </a:r>
          </a:p>
          <a:p>
            <a:r>
              <a:rPr lang="en-US" dirty="0"/>
              <a:t>Inspecting dataset structure</a:t>
            </a:r>
          </a:p>
          <a:p>
            <a:r>
              <a:rPr lang="en-US" dirty="0"/>
              <a:t>Checking feature data types</a:t>
            </a:r>
          </a:p>
          <a:p>
            <a:r>
              <a:rPr lang="en-US" dirty="0"/>
              <a:t>Reviewing summary statistics</a:t>
            </a:r>
          </a:p>
          <a:p>
            <a:r>
              <a:rPr lang="en-US" dirty="0"/>
              <a:t>Understanding distribution of price values</a:t>
            </a:r>
          </a:p>
          <a:p>
            <a:pPr marL="0" indent="0">
              <a:buNone/>
            </a:pPr>
            <a:endParaRPr lang="en-US" dirty="0"/>
          </a:p>
          <a:p>
            <a:pPr marL="0" indent="0">
              <a:buNone/>
            </a:pPr>
            <a:r>
              <a:rPr lang="en-US" i="1" u="sng" dirty="0"/>
              <a:t>Key observations:</a:t>
            </a:r>
          </a:p>
          <a:p>
            <a:r>
              <a:rPr lang="en-US" dirty="0"/>
              <a:t>Dataset contains both </a:t>
            </a:r>
            <a:r>
              <a:rPr lang="en-US" b="1" dirty="0"/>
              <a:t>categorical and numerical variables</a:t>
            </a:r>
            <a:endParaRPr lang="en-US" dirty="0"/>
          </a:p>
          <a:p>
            <a:r>
              <a:rPr lang="en-US" dirty="0"/>
              <a:t>Camera features were stored as </a:t>
            </a:r>
            <a:r>
              <a:rPr lang="en-US" b="1" dirty="0"/>
              <a:t>text values (e.g., 50MP)</a:t>
            </a:r>
            <a:r>
              <a:rPr lang="en-US" dirty="0"/>
              <a:t> and converted to numeric form.</a:t>
            </a:r>
          </a:p>
          <a:p>
            <a:endParaRPr lang="en-IN" dirty="0"/>
          </a:p>
        </p:txBody>
      </p:sp>
    </p:spTree>
    <p:extLst>
      <p:ext uri="{BB962C8B-B14F-4D97-AF65-F5344CB8AC3E}">
        <p14:creationId xmlns:p14="http://schemas.microsoft.com/office/powerpoint/2010/main" val="1597215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A3F6-CDC4-DF90-0334-DEB31B620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0DC8F-C845-D021-A398-BB338A8677DE}"/>
              </a:ext>
            </a:extLst>
          </p:cNvPr>
          <p:cNvSpPr>
            <a:spLocks noGrp="1"/>
          </p:cNvSpPr>
          <p:nvPr>
            <p:ph type="title"/>
          </p:nvPr>
        </p:nvSpPr>
        <p:spPr>
          <a:xfrm>
            <a:off x="631723" y="205069"/>
            <a:ext cx="10515600" cy="1171448"/>
          </a:xfrm>
        </p:spPr>
        <p:txBody>
          <a:bodyPr/>
          <a:lstStyle/>
          <a:p>
            <a:r>
              <a:rPr lang="en-IN" dirty="0"/>
              <a:t>Data Preprocessing</a:t>
            </a:r>
          </a:p>
        </p:txBody>
      </p:sp>
      <p:sp>
        <p:nvSpPr>
          <p:cNvPr id="3" name="Content Placeholder 2">
            <a:extLst>
              <a:ext uri="{FF2B5EF4-FFF2-40B4-BE49-F238E27FC236}">
                <a16:creationId xmlns:a16="http://schemas.microsoft.com/office/drawing/2014/main" id="{C579AE12-EB1F-89C2-82B6-4D9699DABCC4}"/>
              </a:ext>
            </a:extLst>
          </p:cNvPr>
          <p:cNvSpPr>
            <a:spLocks noGrp="1"/>
          </p:cNvSpPr>
          <p:nvPr>
            <p:ph idx="1"/>
          </p:nvPr>
        </p:nvSpPr>
        <p:spPr>
          <a:xfrm>
            <a:off x="631723" y="1540490"/>
            <a:ext cx="10763864" cy="4555510"/>
          </a:xfrm>
        </p:spPr>
        <p:txBody>
          <a:bodyPr>
            <a:normAutofit fontScale="92500" lnSpcReduction="10000"/>
          </a:bodyPr>
          <a:lstStyle/>
          <a:p>
            <a:pPr marL="0" indent="0">
              <a:buNone/>
            </a:pPr>
            <a:r>
              <a:rPr lang="en-IN" i="1" u="sng" dirty="0"/>
              <a:t>Several preprocessing steps were applied:</a:t>
            </a:r>
          </a:p>
          <a:p>
            <a:r>
              <a:rPr lang="en-IN" b="1" dirty="0"/>
              <a:t>Handling Missing Values</a:t>
            </a:r>
          </a:p>
          <a:p>
            <a:pPr marL="0" indent="0">
              <a:buNone/>
            </a:pPr>
            <a:r>
              <a:rPr lang="en-IN" dirty="0"/>
              <a:t>Missing numerical values were replaced using </a:t>
            </a:r>
            <a:r>
              <a:rPr lang="en-IN" b="1" dirty="0"/>
              <a:t>median imputation</a:t>
            </a:r>
            <a:r>
              <a:rPr lang="en-IN" dirty="0"/>
              <a:t>.</a:t>
            </a:r>
          </a:p>
          <a:p>
            <a:r>
              <a:rPr lang="en-IN" b="1" dirty="0"/>
              <a:t>Feature Cleaning</a:t>
            </a:r>
          </a:p>
          <a:p>
            <a:pPr marL="0" indent="0">
              <a:buNone/>
            </a:pPr>
            <a:r>
              <a:rPr lang="en-IN" dirty="0"/>
              <a:t>Camera values were converted to numeric megapixels.</a:t>
            </a:r>
          </a:p>
          <a:p>
            <a:pPr marL="0" indent="0">
              <a:buNone/>
            </a:pPr>
            <a:r>
              <a:rPr lang="en-IN" dirty="0"/>
              <a:t>Example:</a:t>
            </a:r>
          </a:p>
          <a:p>
            <a:pPr marL="0" indent="0">
              <a:buNone/>
            </a:pPr>
            <a:r>
              <a:rPr lang="en-IN" dirty="0"/>
              <a:t>50MP → 50</a:t>
            </a:r>
            <a:br>
              <a:rPr lang="en-IN" dirty="0"/>
            </a:br>
            <a:r>
              <a:rPr lang="en-IN" dirty="0"/>
              <a:t>13MP → 13</a:t>
            </a:r>
          </a:p>
          <a:p>
            <a:r>
              <a:rPr lang="en-IN" b="1" dirty="0"/>
              <a:t>Removing Redundant Columns</a:t>
            </a:r>
          </a:p>
          <a:p>
            <a:pPr marL="0" indent="0">
              <a:buNone/>
            </a:pPr>
            <a:r>
              <a:rPr lang="en-IN" dirty="0"/>
              <a:t>Unnecessary columns were removed to improve model performance.</a:t>
            </a:r>
          </a:p>
          <a:p>
            <a:endParaRPr lang="en-IN" dirty="0"/>
          </a:p>
        </p:txBody>
      </p:sp>
    </p:spTree>
    <p:extLst>
      <p:ext uri="{BB962C8B-B14F-4D97-AF65-F5344CB8AC3E}">
        <p14:creationId xmlns:p14="http://schemas.microsoft.com/office/powerpoint/2010/main" val="170514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7D8C-A9FA-82EC-442C-4D19D7ECE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BE039-C21D-FD1F-E775-E41076C7079E}"/>
              </a:ext>
            </a:extLst>
          </p:cNvPr>
          <p:cNvSpPr>
            <a:spLocks noGrp="1"/>
          </p:cNvSpPr>
          <p:nvPr>
            <p:ph type="title"/>
          </p:nvPr>
        </p:nvSpPr>
        <p:spPr>
          <a:xfrm>
            <a:off x="631723" y="205068"/>
            <a:ext cx="10515600" cy="1325563"/>
          </a:xfrm>
        </p:spPr>
        <p:txBody>
          <a:bodyPr/>
          <a:lstStyle/>
          <a:p>
            <a:r>
              <a:rPr lang="en-IN" dirty="0"/>
              <a:t>Feature Engineering</a:t>
            </a:r>
          </a:p>
        </p:txBody>
      </p:sp>
      <p:sp>
        <p:nvSpPr>
          <p:cNvPr id="3" name="Content Placeholder 2">
            <a:extLst>
              <a:ext uri="{FF2B5EF4-FFF2-40B4-BE49-F238E27FC236}">
                <a16:creationId xmlns:a16="http://schemas.microsoft.com/office/drawing/2014/main" id="{E228F57D-78A6-4C1A-7F22-31E78C56ABBE}"/>
              </a:ext>
            </a:extLst>
          </p:cNvPr>
          <p:cNvSpPr>
            <a:spLocks noGrp="1"/>
          </p:cNvSpPr>
          <p:nvPr>
            <p:ph idx="1"/>
          </p:nvPr>
        </p:nvSpPr>
        <p:spPr>
          <a:xfrm>
            <a:off x="631723" y="1638812"/>
            <a:ext cx="10515600" cy="4351338"/>
          </a:xfrm>
        </p:spPr>
        <p:txBody>
          <a:bodyPr>
            <a:normAutofit fontScale="85000" lnSpcReduction="20000"/>
          </a:bodyPr>
          <a:lstStyle/>
          <a:p>
            <a:pPr marL="0" indent="0">
              <a:buNone/>
            </a:pPr>
            <a:r>
              <a:rPr lang="en-US" b="1" i="1" u="sng" dirty="0"/>
              <a:t>Categorical Encoding</a:t>
            </a:r>
          </a:p>
          <a:p>
            <a:r>
              <a:rPr lang="en-US" dirty="0"/>
              <a:t>Categorical variables such as:</a:t>
            </a:r>
          </a:p>
          <a:p>
            <a:r>
              <a:rPr lang="en-US" dirty="0"/>
              <a:t>Model</a:t>
            </a:r>
          </a:p>
          <a:p>
            <a:r>
              <a:rPr lang="en-US" dirty="0" err="1"/>
              <a:t>Colour</a:t>
            </a:r>
            <a:endParaRPr lang="en-US" dirty="0"/>
          </a:p>
          <a:p>
            <a:r>
              <a:rPr lang="en-US" dirty="0"/>
              <a:t>Processor</a:t>
            </a:r>
          </a:p>
          <a:p>
            <a:pPr marL="0" indent="0">
              <a:buNone/>
            </a:pPr>
            <a:r>
              <a:rPr lang="en-US" dirty="0"/>
              <a:t>were converted into numerical format using </a:t>
            </a:r>
            <a:r>
              <a:rPr lang="en-US" b="1" dirty="0"/>
              <a:t>One-Hot Encoding</a:t>
            </a:r>
            <a:r>
              <a:rPr lang="en-US" dirty="0"/>
              <a:t>.</a:t>
            </a:r>
          </a:p>
          <a:p>
            <a:pPr marL="0" indent="0">
              <a:buNone/>
            </a:pPr>
            <a:endParaRPr lang="en-US" dirty="0"/>
          </a:p>
          <a:p>
            <a:pPr marL="0" indent="0">
              <a:buNone/>
            </a:pPr>
            <a:r>
              <a:rPr lang="en-US" i="1" u="sng" dirty="0"/>
              <a:t>Example transformation:</a:t>
            </a:r>
          </a:p>
          <a:p>
            <a:pPr>
              <a:buFont typeface="Courier New" panose="02070309020205020404" pitchFamily="49" charset="0"/>
              <a:buChar char="o"/>
            </a:pPr>
            <a:r>
              <a:rPr lang="en-US" dirty="0"/>
              <a:t>Model iPhone becomes </a:t>
            </a:r>
            <a:r>
              <a:rPr lang="en-US" dirty="0" err="1"/>
              <a:t>Model_iPhone</a:t>
            </a:r>
            <a:endParaRPr lang="en-US" dirty="0"/>
          </a:p>
          <a:p>
            <a:pPr>
              <a:buFont typeface="Courier New" panose="02070309020205020404" pitchFamily="49" charset="0"/>
              <a:buChar char="o"/>
            </a:pPr>
            <a:r>
              <a:rPr lang="en-US" dirty="0" err="1"/>
              <a:t>Colour</a:t>
            </a:r>
            <a:r>
              <a:rPr lang="en-US" dirty="0"/>
              <a:t> Blue becomes </a:t>
            </a:r>
            <a:r>
              <a:rPr lang="en-US" dirty="0" err="1"/>
              <a:t>Colour_Blue</a:t>
            </a:r>
            <a:endParaRPr lang="en-US" dirty="0"/>
          </a:p>
          <a:p>
            <a:pPr>
              <a:buFont typeface="Courier New" panose="02070309020205020404" pitchFamily="49" charset="0"/>
              <a:buChar char="o"/>
            </a:pPr>
            <a:r>
              <a:rPr lang="en-US" dirty="0"/>
              <a:t>RAM 6 becomes RAM</a:t>
            </a:r>
          </a:p>
          <a:p>
            <a:endParaRPr lang="en-IN" dirty="0"/>
          </a:p>
        </p:txBody>
      </p:sp>
    </p:spTree>
    <p:extLst>
      <p:ext uri="{BB962C8B-B14F-4D97-AF65-F5344CB8AC3E}">
        <p14:creationId xmlns:p14="http://schemas.microsoft.com/office/powerpoint/2010/main" val="101606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B059-0CD6-CEE6-4925-3A185765C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21459-A10D-B1B6-AC47-7AEAE8EF2D05}"/>
              </a:ext>
            </a:extLst>
          </p:cNvPr>
          <p:cNvSpPr>
            <a:spLocks noGrp="1"/>
          </p:cNvSpPr>
          <p:nvPr>
            <p:ph type="title"/>
          </p:nvPr>
        </p:nvSpPr>
        <p:spPr>
          <a:xfrm>
            <a:off x="631723" y="205068"/>
            <a:ext cx="10515600" cy="1325563"/>
          </a:xfrm>
        </p:spPr>
        <p:txBody>
          <a:bodyPr/>
          <a:lstStyle/>
          <a:p>
            <a:r>
              <a:rPr lang="en-IN" dirty="0"/>
              <a:t>Feature Extraction Techniques</a:t>
            </a:r>
          </a:p>
        </p:txBody>
      </p:sp>
      <p:sp>
        <p:nvSpPr>
          <p:cNvPr id="3" name="Content Placeholder 2">
            <a:extLst>
              <a:ext uri="{FF2B5EF4-FFF2-40B4-BE49-F238E27FC236}">
                <a16:creationId xmlns:a16="http://schemas.microsoft.com/office/drawing/2014/main" id="{DA163857-0A4A-4A4D-1715-127FCB734D45}"/>
              </a:ext>
            </a:extLst>
          </p:cNvPr>
          <p:cNvSpPr>
            <a:spLocks noGrp="1"/>
          </p:cNvSpPr>
          <p:nvPr>
            <p:ph idx="1"/>
          </p:nvPr>
        </p:nvSpPr>
        <p:spPr>
          <a:xfrm>
            <a:off x="631723" y="1638812"/>
            <a:ext cx="10515600" cy="4351338"/>
          </a:xfrm>
        </p:spPr>
        <p:txBody>
          <a:bodyPr>
            <a:normAutofit/>
          </a:bodyPr>
          <a:lstStyle/>
          <a:p>
            <a:pPr marL="0" indent="0">
              <a:buNone/>
            </a:pPr>
            <a:r>
              <a:rPr lang="en-US" b="1" dirty="0"/>
              <a:t>Three major feature extraction techniques used</a:t>
            </a:r>
            <a:r>
              <a:rPr lang="en-US" dirty="0"/>
              <a:t>:</a:t>
            </a:r>
          </a:p>
          <a:p>
            <a:pPr marL="0" indent="0">
              <a:buNone/>
            </a:pPr>
            <a:r>
              <a:rPr lang="en-US" b="1" dirty="0"/>
              <a:t>1. Correlation Analysis</a:t>
            </a:r>
          </a:p>
          <a:p>
            <a:pPr marL="0" indent="0">
              <a:buNone/>
            </a:pPr>
            <a:r>
              <a:rPr lang="en-US" dirty="0"/>
              <a:t>A </a:t>
            </a:r>
            <a:r>
              <a:rPr lang="en-US" b="1" dirty="0"/>
              <a:t>correlation heatmap</a:t>
            </a:r>
            <a:r>
              <a:rPr lang="en-US" dirty="0"/>
              <a:t> was used to observe relationships between numerical features and price.</a:t>
            </a:r>
          </a:p>
          <a:p>
            <a:pPr marL="0" indent="0">
              <a:buNone/>
            </a:pPr>
            <a:r>
              <a:rPr lang="en-US" b="1" dirty="0"/>
              <a:t>2. Visualization Analysis</a:t>
            </a:r>
          </a:p>
          <a:p>
            <a:pPr marL="0" indent="0">
              <a:buNone/>
            </a:pPr>
            <a:r>
              <a:rPr lang="en-US" dirty="0"/>
              <a:t>A </a:t>
            </a:r>
            <a:r>
              <a:rPr lang="en-US" b="1" dirty="0" err="1"/>
              <a:t>pairplot</a:t>
            </a:r>
            <a:r>
              <a:rPr lang="en-US" dirty="0"/>
              <a:t> was used to visualize relationships among numeric variables.</a:t>
            </a:r>
          </a:p>
          <a:p>
            <a:pPr marL="0" indent="0">
              <a:buNone/>
            </a:pPr>
            <a:r>
              <a:rPr lang="en-US" b="1" dirty="0"/>
              <a:t>3. Feature Importance</a:t>
            </a:r>
          </a:p>
          <a:p>
            <a:pPr marL="0" indent="0">
              <a:buNone/>
            </a:pPr>
            <a:r>
              <a:rPr lang="en-US" dirty="0"/>
              <a:t>Random Forest was used to determine the </a:t>
            </a:r>
            <a:r>
              <a:rPr lang="en-US" b="1" dirty="0"/>
              <a:t>most influential features</a:t>
            </a:r>
            <a:r>
              <a:rPr lang="en-US" dirty="0"/>
              <a:t> affecting price.</a:t>
            </a:r>
          </a:p>
          <a:p>
            <a:endParaRPr lang="en-IN" dirty="0"/>
          </a:p>
        </p:txBody>
      </p:sp>
    </p:spTree>
    <p:extLst>
      <p:ext uri="{BB962C8B-B14F-4D97-AF65-F5344CB8AC3E}">
        <p14:creationId xmlns:p14="http://schemas.microsoft.com/office/powerpoint/2010/main" val="3140106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B39D-CF78-39AA-0FE9-8BEB99D1A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308F0-688C-DB2D-4010-743A838F07C9}"/>
              </a:ext>
            </a:extLst>
          </p:cNvPr>
          <p:cNvSpPr>
            <a:spLocks noGrp="1"/>
          </p:cNvSpPr>
          <p:nvPr>
            <p:ph type="title"/>
          </p:nvPr>
        </p:nvSpPr>
        <p:spPr>
          <a:xfrm>
            <a:off x="631723" y="205068"/>
            <a:ext cx="10515600" cy="1325563"/>
          </a:xfrm>
        </p:spPr>
        <p:txBody>
          <a:bodyPr/>
          <a:lstStyle/>
          <a:p>
            <a:r>
              <a:rPr lang="en-IN" dirty="0"/>
              <a:t>Machine Learning Models</a:t>
            </a:r>
          </a:p>
        </p:txBody>
      </p:sp>
      <p:sp>
        <p:nvSpPr>
          <p:cNvPr id="3" name="Content Placeholder 2">
            <a:extLst>
              <a:ext uri="{FF2B5EF4-FFF2-40B4-BE49-F238E27FC236}">
                <a16:creationId xmlns:a16="http://schemas.microsoft.com/office/drawing/2014/main" id="{6C5FAE7C-24FF-7495-21F9-63794F046472}"/>
              </a:ext>
            </a:extLst>
          </p:cNvPr>
          <p:cNvSpPr>
            <a:spLocks noGrp="1"/>
          </p:cNvSpPr>
          <p:nvPr>
            <p:ph idx="1"/>
          </p:nvPr>
        </p:nvSpPr>
        <p:spPr>
          <a:xfrm>
            <a:off x="631723" y="1638812"/>
            <a:ext cx="10515600" cy="4351338"/>
          </a:xfrm>
        </p:spPr>
        <p:txBody>
          <a:bodyPr>
            <a:normAutofit/>
          </a:bodyPr>
          <a:lstStyle/>
          <a:p>
            <a:pPr marL="0" indent="0">
              <a:buNone/>
            </a:pPr>
            <a:r>
              <a:rPr lang="en-US" dirty="0"/>
              <a:t>Three regression models were trained:</a:t>
            </a:r>
          </a:p>
          <a:p>
            <a:r>
              <a:rPr lang="en-US" b="1" dirty="0"/>
              <a:t>Linear Regression</a:t>
            </a:r>
          </a:p>
          <a:p>
            <a:r>
              <a:rPr lang="en-US" b="1" dirty="0"/>
              <a:t>Random Forest Regressor</a:t>
            </a:r>
          </a:p>
          <a:p>
            <a:r>
              <a:rPr lang="en-US" b="1" dirty="0"/>
              <a:t>Gradient Boosting Regressor</a:t>
            </a:r>
          </a:p>
          <a:p>
            <a:pPr marL="0" indent="0">
              <a:buNone/>
            </a:pPr>
            <a:r>
              <a:rPr lang="en-US" dirty="0"/>
              <a:t>The dataset was divided using:</a:t>
            </a:r>
          </a:p>
          <a:p>
            <a:pPr marL="0" indent="0">
              <a:buNone/>
            </a:pPr>
            <a:r>
              <a:rPr lang="en-US" b="1" dirty="0"/>
              <a:t>80% - Training Data</a:t>
            </a:r>
          </a:p>
          <a:p>
            <a:pPr marL="0" indent="0">
              <a:buNone/>
            </a:pPr>
            <a:r>
              <a:rPr lang="en-US" b="1" dirty="0"/>
              <a:t>20% - Testing Data</a:t>
            </a:r>
          </a:p>
          <a:p>
            <a:endParaRPr lang="en-IN" dirty="0"/>
          </a:p>
        </p:txBody>
      </p:sp>
    </p:spTree>
    <p:extLst>
      <p:ext uri="{BB962C8B-B14F-4D97-AF65-F5344CB8AC3E}">
        <p14:creationId xmlns:p14="http://schemas.microsoft.com/office/powerpoint/2010/main" val="428755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3B66-932A-151B-9509-72D31F6B2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16434-A3FA-9747-D924-D8F13C2B2E61}"/>
              </a:ext>
            </a:extLst>
          </p:cNvPr>
          <p:cNvSpPr>
            <a:spLocks noGrp="1"/>
          </p:cNvSpPr>
          <p:nvPr>
            <p:ph type="title"/>
          </p:nvPr>
        </p:nvSpPr>
        <p:spPr>
          <a:xfrm>
            <a:off x="631723" y="205068"/>
            <a:ext cx="10515600" cy="1325563"/>
          </a:xfrm>
        </p:spPr>
        <p:txBody>
          <a:bodyPr/>
          <a:lstStyle/>
          <a:p>
            <a:r>
              <a:rPr lang="en-IN" dirty="0"/>
              <a:t>Model Evaluation</a:t>
            </a:r>
          </a:p>
        </p:txBody>
      </p:sp>
      <p:sp>
        <p:nvSpPr>
          <p:cNvPr id="3" name="Content Placeholder 2">
            <a:extLst>
              <a:ext uri="{FF2B5EF4-FFF2-40B4-BE49-F238E27FC236}">
                <a16:creationId xmlns:a16="http://schemas.microsoft.com/office/drawing/2014/main" id="{C153BA6E-474D-4E49-A11B-52AEA79B56AD}"/>
              </a:ext>
            </a:extLst>
          </p:cNvPr>
          <p:cNvSpPr>
            <a:spLocks noGrp="1"/>
          </p:cNvSpPr>
          <p:nvPr>
            <p:ph idx="1"/>
          </p:nvPr>
        </p:nvSpPr>
        <p:spPr>
          <a:xfrm>
            <a:off x="631723" y="1638812"/>
            <a:ext cx="10515600" cy="4351338"/>
          </a:xfrm>
        </p:spPr>
        <p:txBody>
          <a:bodyPr>
            <a:normAutofit/>
          </a:bodyPr>
          <a:lstStyle/>
          <a:p>
            <a:pPr marL="0" indent="0">
              <a:buNone/>
            </a:pPr>
            <a:r>
              <a:rPr lang="en-US" i="1" u="sng" dirty="0"/>
              <a:t>Performance metrics used:</a:t>
            </a:r>
          </a:p>
          <a:p>
            <a:r>
              <a:rPr lang="en-US" b="1" dirty="0"/>
              <a:t>Mean Absolute Error (MAE)</a:t>
            </a:r>
          </a:p>
          <a:p>
            <a:r>
              <a:rPr lang="en-US" b="1" dirty="0"/>
              <a:t>Root Mean Squared Error (RMSE)</a:t>
            </a:r>
          </a:p>
          <a:p>
            <a:r>
              <a:rPr lang="en-US" b="1" dirty="0"/>
              <a:t>R² Score</a:t>
            </a:r>
          </a:p>
          <a:p>
            <a:pPr marL="0" indent="0">
              <a:buNone/>
            </a:pPr>
            <a:r>
              <a:rPr lang="en-US" dirty="0"/>
              <a:t>These metrics measure how accurately the model predicts smartphone prices.</a:t>
            </a:r>
          </a:p>
          <a:p>
            <a:pPr marL="0" indent="0">
              <a:buNone/>
            </a:pPr>
            <a:r>
              <a:rPr lang="en-US" dirty="0"/>
              <a:t>Random Forest achieved the </a:t>
            </a:r>
            <a:r>
              <a:rPr lang="en-US" b="1" dirty="0"/>
              <a:t>best prediction performance</a:t>
            </a:r>
            <a:r>
              <a:rPr lang="en-US" dirty="0"/>
              <a:t> due to its ability to capture nonlinear relationships.</a:t>
            </a:r>
          </a:p>
          <a:p>
            <a:endParaRPr lang="en-IN" dirty="0"/>
          </a:p>
        </p:txBody>
      </p:sp>
    </p:spTree>
    <p:extLst>
      <p:ext uri="{BB962C8B-B14F-4D97-AF65-F5344CB8AC3E}">
        <p14:creationId xmlns:p14="http://schemas.microsoft.com/office/powerpoint/2010/main" val="73032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EDF8-0FCF-8A95-CC07-B2ABF47F2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54FB8-0885-1C72-28C2-86887B244DFF}"/>
              </a:ext>
            </a:extLst>
          </p:cNvPr>
          <p:cNvSpPr>
            <a:spLocks noGrp="1"/>
          </p:cNvSpPr>
          <p:nvPr>
            <p:ph type="title"/>
          </p:nvPr>
        </p:nvSpPr>
        <p:spPr>
          <a:xfrm>
            <a:off x="179439" y="100480"/>
            <a:ext cx="11442290" cy="1005365"/>
          </a:xfrm>
        </p:spPr>
        <p:txBody>
          <a:bodyPr/>
          <a:lstStyle/>
          <a:p>
            <a:r>
              <a:rPr lang="en-IN" dirty="0"/>
              <a:t>Visualizations &amp; Insights</a:t>
            </a:r>
          </a:p>
        </p:txBody>
      </p:sp>
      <p:sp>
        <p:nvSpPr>
          <p:cNvPr id="3" name="Content Placeholder 2">
            <a:extLst>
              <a:ext uri="{FF2B5EF4-FFF2-40B4-BE49-F238E27FC236}">
                <a16:creationId xmlns:a16="http://schemas.microsoft.com/office/drawing/2014/main" id="{49F17B50-F02A-CDFE-7FBE-CFFCE1C4EECC}"/>
              </a:ext>
            </a:extLst>
          </p:cNvPr>
          <p:cNvSpPr>
            <a:spLocks noGrp="1"/>
          </p:cNvSpPr>
          <p:nvPr>
            <p:ph idx="1"/>
          </p:nvPr>
        </p:nvSpPr>
        <p:spPr>
          <a:xfrm>
            <a:off x="258099" y="1253330"/>
            <a:ext cx="4117256" cy="5147469"/>
          </a:xfrm>
        </p:spPr>
        <p:txBody>
          <a:bodyPr>
            <a:normAutofit/>
          </a:bodyPr>
          <a:lstStyle/>
          <a:p>
            <a:pPr marL="0" indent="0">
              <a:buNone/>
            </a:pPr>
            <a:r>
              <a:rPr lang="en-US" b="1" dirty="0"/>
              <a:t>Correlation Heatmap</a:t>
            </a:r>
          </a:p>
          <a:p>
            <a:r>
              <a:rPr lang="en-US" dirty="0"/>
              <a:t>Shows statistical relationships between numerical features.</a:t>
            </a:r>
          </a:p>
          <a:p>
            <a:pPr marL="0" indent="0">
              <a:buNone/>
            </a:pPr>
            <a:endParaRPr lang="en-US" dirty="0"/>
          </a:p>
          <a:p>
            <a:pPr marL="0" indent="0">
              <a:buNone/>
            </a:pPr>
            <a:r>
              <a:rPr lang="en-US" i="1" u="sng" dirty="0"/>
              <a:t>Key insight:</a:t>
            </a:r>
          </a:p>
          <a:p>
            <a:r>
              <a:rPr lang="en-US" dirty="0"/>
              <a:t>RAM and Storage have strong positive correlation with price.</a:t>
            </a:r>
          </a:p>
        </p:txBody>
      </p:sp>
      <p:pic>
        <p:nvPicPr>
          <p:cNvPr id="5" name="Picture 4">
            <a:extLst>
              <a:ext uri="{FF2B5EF4-FFF2-40B4-BE49-F238E27FC236}">
                <a16:creationId xmlns:a16="http://schemas.microsoft.com/office/drawing/2014/main" id="{A9D43CAE-1072-A542-9D72-0C47F8D6A98C}"/>
              </a:ext>
            </a:extLst>
          </p:cNvPr>
          <p:cNvPicPr>
            <a:picLocks noChangeAspect="1"/>
          </p:cNvPicPr>
          <p:nvPr/>
        </p:nvPicPr>
        <p:blipFill>
          <a:blip r:embed="rId2"/>
          <a:stretch>
            <a:fillRect/>
          </a:stretch>
        </p:blipFill>
        <p:spPr>
          <a:xfrm>
            <a:off x="4237704" y="834348"/>
            <a:ext cx="7774858" cy="5713936"/>
          </a:xfrm>
          <a:prstGeom prst="rect">
            <a:avLst/>
          </a:prstGeom>
        </p:spPr>
      </p:pic>
    </p:spTree>
    <p:extLst>
      <p:ext uri="{BB962C8B-B14F-4D97-AF65-F5344CB8AC3E}">
        <p14:creationId xmlns:p14="http://schemas.microsoft.com/office/powerpoint/2010/main" val="1270526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0D941-8141-3F77-D411-6F697F2A6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A1B8E-DA5E-0A85-0FE2-8F9C1F1B7A44}"/>
              </a:ext>
            </a:extLst>
          </p:cNvPr>
          <p:cNvSpPr>
            <a:spLocks noGrp="1"/>
          </p:cNvSpPr>
          <p:nvPr>
            <p:ph type="title"/>
          </p:nvPr>
        </p:nvSpPr>
        <p:spPr>
          <a:xfrm>
            <a:off x="179439" y="100480"/>
            <a:ext cx="11442290" cy="1138385"/>
          </a:xfrm>
        </p:spPr>
        <p:txBody>
          <a:bodyPr/>
          <a:lstStyle/>
          <a:p>
            <a:r>
              <a:rPr lang="en-IN" dirty="0"/>
              <a:t>Visualizations &amp; Insights </a:t>
            </a:r>
            <a:r>
              <a:rPr lang="en-IN" dirty="0" err="1"/>
              <a:t>Contd</a:t>
            </a:r>
            <a:r>
              <a:rPr lang="en-IN" dirty="0"/>
              <a:t>…</a:t>
            </a:r>
          </a:p>
        </p:txBody>
      </p:sp>
      <p:sp>
        <p:nvSpPr>
          <p:cNvPr id="3" name="Content Placeholder 2">
            <a:extLst>
              <a:ext uri="{FF2B5EF4-FFF2-40B4-BE49-F238E27FC236}">
                <a16:creationId xmlns:a16="http://schemas.microsoft.com/office/drawing/2014/main" id="{B563867E-3A34-E679-D02F-99696A7E8F19}"/>
              </a:ext>
            </a:extLst>
          </p:cNvPr>
          <p:cNvSpPr>
            <a:spLocks noGrp="1"/>
          </p:cNvSpPr>
          <p:nvPr>
            <p:ph idx="1"/>
          </p:nvPr>
        </p:nvSpPr>
        <p:spPr>
          <a:xfrm>
            <a:off x="494073" y="1361485"/>
            <a:ext cx="4117256" cy="4714851"/>
          </a:xfrm>
        </p:spPr>
        <p:txBody>
          <a:bodyPr>
            <a:normAutofit lnSpcReduction="10000"/>
          </a:bodyPr>
          <a:lstStyle/>
          <a:p>
            <a:pPr marL="0" indent="0">
              <a:buNone/>
            </a:pPr>
            <a:r>
              <a:rPr lang="en-IN" b="1" dirty="0" err="1"/>
              <a:t>Pairplot</a:t>
            </a:r>
            <a:r>
              <a:rPr lang="en-IN" b="1" dirty="0"/>
              <a:t> Analysis</a:t>
            </a:r>
          </a:p>
          <a:p>
            <a:pPr marL="0" indent="0">
              <a:buNone/>
            </a:pPr>
            <a:r>
              <a:rPr lang="en-US" dirty="0"/>
              <a:t>Helps visualize feature interactions.</a:t>
            </a:r>
          </a:p>
          <a:p>
            <a:pPr marL="0" indent="0">
              <a:buNone/>
            </a:pPr>
            <a:endParaRPr lang="en-US" dirty="0"/>
          </a:p>
          <a:p>
            <a:pPr marL="0" indent="0">
              <a:buNone/>
            </a:pPr>
            <a:r>
              <a:rPr lang="en-US" i="1" u="sng" dirty="0"/>
              <a:t>Observed relationships:</a:t>
            </a:r>
          </a:p>
          <a:p>
            <a:r>
              <a:rPr lang="en-US" dirty="0"/>
              <a:t>Higher RAM → Higher price</a:t>
            </a:r>
          </a:p>
          <a:p>
            <a:r>
              <a:rPr lang="en-US" dirty="0"/>
              <a:t>Larger storage → Higher price</a:t>
            </a:r>
          </a:p>
          <a:p>
            <a:r>
              <a:rPr lang="en-US" dirty="0"/>
              <a:t>Better camera → Higher price</a:t>
            </a:r>
          </a:p>
        </p:txBody>
      </p:sp>
      <p:pic>
        <p:nvPicPr>
          <p:cNvPr id="6" name="Picture 5">
            <a:extLst>
              <a:ext uri="{FF2B5EF4-FFF2-40B4-BE49-F238E27FC236}">
                <a16:creationId xmlns:a16="http://schemas.microsoft.com/office/drawing/2014/main" id="{7CB1AA64-F103-348A-88BC-2A6B8658F7F0}"/>
              </a:ext>
            </a:extLst>
          </p:cNvPr>
          <p:cNvPicPr>
            <a:picLocks noChangeAspect="1"/>
          </p:cNvPicPr>
          <p:nvPr/>
        </p:nvPicPr>
        <p:blipFill>
          <a:blip r:embed="rId2"/>
          <a:stretch>
            <a:fillRect/>
          </a:stretch>
        </p:blipFill>
        <p:spPr>
          <a:xfrm>
            <a:off x="4611329" y="1071716"/>
            <a:ext cx="7273413" cy="5607363"/>
          </a:xfrm>
          <a:prstGeom prst="rect">
            <a:avLst/>
          </a:prstGeom>
          <a:ln w="6350">
            <a:solidFill>
              <a:schemeClr val="tx1"/>
            </a:solidFill>
          </a:ln>
        </p:spPr>
      </p:pic>
    </p:spTree>
    <p:extLst>
      <p:ext uri="{BB962C8B-B14F-4D97-AF65-F5344CB8AC3E}">
        <p14:creationId xmlns:p14="http://schemas.microsoft.com/office/powerpoint/2010/main" val="171693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10A9-095C-4ABE-1930-73C037C32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E944A-8C0F-D0E6-D23B-7F2D2EE30DB4}"/>
              </a:ext>
            </a:extLst>
          </p:cNvPr>
          <p:cNvSpPr>
            <a:spLocks noGrp="1"/>
          </p:cNvSpPr>
          <p:nvPr>
            <p:ph type="title"/>
          </p:nvPr>
        </p:nvSpPr>
        <p:spPr>
          <a:xfrm>
            <a:off x="179439" y="100480"/>
            <a:ext cx="11442290" cy="1138385"/>
          </a:xfrm>
        </p:spPr>
        <p:txBody>
          <a:bodyPr/>
          <a:lstStyle/>
          <a:p>
            <a:r>
              <a:rPr lang="en-IN" dirty="0"/>
              <a:t>Visualizations &amp; Insights </a:t>
            </a:r>
            <a:r>
              <a:rPr lang="en-IN" dirty="0" err="1"/>
              <a:t>Contd</a:t>
            </a:r>
            <a:r>
              <a:rPr lang="en-IN" dirty="0"/>
              <a:t>…</a:t>
            </a:r>
          </a:p>
        </p:txBody>
      </p:sp>
      <p:sp>
        <p:nvSpPr>
          <p:cNvPr id="13" name="TextBox 12">
            <a:extLst>
              <a:ext uri="{FF2B5EF4-FFF2-40B4-BE49-F238E27FC236}">
                <a16:creationId xmlns:a16="http://schemas.microsoft.com/office/drawing/2014/main" id="{67F90734-0D82-A6DD-7BBD-30513FC15145}"/>
              </a:ext>
            </a:extLst>
          </p:cNvPr>
          <p:cNvSpPr txBox="1"/>
          <p:nvPr/>
        </p:nvSpPr>
        <p:spPr>
          <a:xfrm rot="10800000" flipV="1">
            <a:off x="166230" y="1052052"/>
            <a:ext cx="4466302" cy="646331"/>
          </a:xfrm>
          <a:prstGeom prst="rect">
            <a:avLst/>
          </a:prstGeom>
          <a:noFill/>
        </p:spPr>
        <p:txBody>
          <a:bodyPr wrap="square">
            <a:spAutoFit/>
          </a:bodyPr>
          <a:lstStyle/>
          <a:p>
            <a:pPr>
              <a:buNone/>
            </a:pPr>
            <a:r>
              <a:rPr lang="en-US" b="1" dirty="0"/>
              <a:t>Feature Importance (Random Forest)</a:t>
            </a:r>
          </a:p>
          <a:p>
            <a:pPr>
              <a:buNone/>
            </a:pPr>
            <a:r>
              <a:rPr lang="en-US" dirty="0"/>
              <a:t>Top influential features identified:</a:t>
            </a:r>
          </a:p>
        </p:txBody>
      </p:sp>
      <p:graphicFrame>
        <p:nvGraphicFramePr>
          <p:cNvPr id="14" name="Table 13">
            <a:extLst>
              <a:ext uri="{FF2B5EF4-FFF2-40B4-BE49-F238E27FC236}">
                <a16:creationId xmlns:a16="http://schemas.microsoft.com/office/drawing/2014/main" id="{38830A5B-528F-0178-EB6A-801AA2ADE46D}"/>
              </a:ext>
            </a:extLst>
          </p:cNvPr>
          <p:cNvGraphicFramePr>
            <a:graphicFrameLocks noGrp="1"/>
          </p:cNvGraphicFramePr>
          <p:nvPr>
            <p:extLst>
              <p:ext uri="{D42A27DB-BD31-4B8C-83A1-F6EECF244321}">
                <p14:modId xmlns:p14="http://schemas.microsoft.com/office/powerpoint/2010/main" val="2307821967"/>
              </p:ext>
            </p:extLst>
          </p:nvPr>
        </p:nvGraphicFramePr>
        <p:xfrm>
          <a:off x="255640" y="1877961"/>
          <a:ext cx="3608439" cy="4651682"/>
        </p:xfrm>
        <a:graphic>
          <a:graphicData uri="http://schemas.openxmlformats.org/drawingml/2006/table">
            <a:tbl>
              <a:tblPr/>
              <a:tblGrid>
                <a:gridCol w="1202813">
                  <a:extLst>
                    <a:ext uri="{9D8B030D-6E8A-4147-A177-3AD203B41FA5}">
                      <a16:colId xmlns:a16="http://schemas.microsoft.com/office/drawing/2014/main" val="3866333583"/>
                    </a:ext>
                  </a:extLst>
                </a:gridCol>
                <a:gridCol w="1202813">
                  <a:extLst>
                    <a:ext uri="{9D8B030D-6E8A-4147-A177-3AD203B41FA5}">
                      <a16:colId xmlns:a16="http://schemas.microsoft.com/office/drawing/2014/main" val="1020179322"/>
                    </a:ext>
                  </a:extLst>
                </a:gridCol>
                <a:gridCol w="1202813">
                  <a:extLst>
                    <a:ext uri="{9D8B030D-6E8A-4147-A177-3AD203B41FA5}">
                      <a16:colId xmlns:a16="http://schemas.microsoft.com/office/drawing/2014/main" val="3822330179"/>
                    </a:ext>
                  </a:extLst>
                </a:gridCol>
              </a:tblGrid>
              <a:tr h="404494">
                <a:tc>
                  <a:txBody>
                    <a:bodyPr/>
                    <a:lstStyle/>
                    <a:p>
                      <a:pPr>
                        <a:buNone/>
                      </a:pPr>
                      <a:r>
                        <a:rPr lang="en-IN"/>
                        <a:t>Rank</a:t>
                      </a:r>
                    </a:p>
                  </a:txBody>
                  <a:tcPr anchor="ctr">
                    <a:lnL>
                      <a:noFill/>
                    </a:lnL>
                    <a:lnR>
                      <a:noFill/>
                    </a:lnR>
                    <a:lnT>
                      <a:noFill/>
                    </a:lnT>
                    <a:lnB>
                      <a:noFill/>
                    </a:lnB>
                    <a:noFill/>
                  </a:tcPr>
                </a:tc>
                <a:tc>
                  <a:txBody>
                    <a:bodyPr/>
                    <a:lstStyle/>
                    <a:p>
                      <a:pPr>
                        <a:buNone/>
                      </a:pPr>
                      <a:r>
                        <a:rPr lang="en-IN"/>
                        <a:t>Feature</a:t>
                      </a:r>
                    </a:p>
                  </a:txBody>
                  <a:tcPr anchor="ctr">
                    <a:lnL>
                      <a:noFill/>
                    </a:lnL>
                    <a:lnR>
                      <a:noFill/>
                    </a:lnR>
                    <a:lnT>
                      <a:noFill/>
                    </a:lnT>
                    <a:lnB>
                      <a:noFill/>
                    </a:lnB>
                    <a:noFill/>
                  </a:tcPr>
                </a:tc>
                <a:tc>
                  <a:txBody>
                    <a:bodyPr/>
                    <a:lstStyle/>
                    <a:p>
                      <a:pPr>
                        <a:buNone/>
                      </a:pPr>
                      <a:r>
                        <a:rPr lang="en-IN"/>
                        <a:t>Influence</a:t>
                      </a:r>
                    </a:p>
                  </a:txBody>
                  <a:tcPr anchor="ctr">
                    <a:lnL>
                      <a:noFill/>
                    </a:lnL>
                    <a:lnR>
                      <a:noFill/>
                    </a:lnR>
                    <a:lnT>
                      <a:noFill/>
                    </a:lnT>
                    <a:lnB>
                      <a:noFill/>
                    </a:lnB>
                    <a:noFill/>
                  </a:tcPr>
                </a:tc>
                <a:extLst>
                  <a:ext uri="{0D108BD9-81ED-4DB2-BD59-A6C34878D82A}">
                    <a16:rowId xmlns:a16="http://schemas.microsoft.com/office/drawing/2014/main" val="3980691910"/>
                  </a:ext>
                </a:extLst>
              </a:tr>
              <a:tr h="1011235">
                <a:tc>
                  <a:txBody>
                    <a:bodyPr/>
                    <a:lstStyle/>
                    <a:p>
                      <a:pPr>
                        <a:buNone/>
                      </a:pPr>
                      <a:r>
                        <a:rPr lang="en-IN" dirty="0"/>
                        <a:t>1</a:t>
                      </a:r>
                    </a:p>
                  </a:txBody>
                  <a:tcPr anchor="ctr">
                    <a:lnL>
                      <a:noFill/>
                    </a:lnL>
                    <a:lnR>
                      <a:noFill/>
                    </a:lnR>
                    <a:lnT>
                      <a:noFill/>
                    </a:lnT>
                    <a:lnB>
                      <a:noFill/>
                    </a:lnB>
                    <a:noFill/>
                  </a:tcPr>
                </a:tc>
                <a:tc>
                  <a:txBody>
                    <a:bodyPr/>
                    <a:lstStyle/>
                    <a:p>
                      <a:pPr>
                        <a:buNone/>
                      </a:pPr>
                      <a:r>
                        <a:rPr lang="en-IN"/>
                        <a:t>Front Camera MP</a:t>
                      </a:r>
                    </a:p>
                  </a:txBody>
                  <a:tcPr anchor="ctr">
                    <a:lnL>
                      <a:noFill/>
                    </a:lnL>
                    <a:lnR>
                      <a:noFill/>
                    </a:lnR>
                    <a:lnT>
                      <a:noFill/>
                    </a:lnT>
                    <a:lnB>
                      <a:noFill/>
                    </a:lnB>
                    <a:noFill/>
                  </a:tcPr>
                </a:tc>
                <a:tc>
                  <a:txBody>
                    <a:bodyPr/>
                    <a:lstStyle/>
                    <a:p>
                      <a:pPr>
                        <a:buNone/>
                      </a:pPr>
                      <a:r>
                        <a:rPr lang="en-IN"/>
                        <a:t>Very High</a:t>
                      </a:r>
                    </a:p>
                  </a:txBody>
                  <a:tcPr anchor="ctr">
                    <a:lnL>
                      <a:noFill/>
                    </a:lnL>
                    <a:lnR>
                      <a:noFill/>
                    </a:lnR>
                    <a:lnT>
                      <a:noFill/>
                    </a:lnT>
                    <a:lnB>
                      <a:noFill/>
                    </a:lnB>
                    <a:noFill/>
                  </a:tcPr>
                </a:tc>
                <a:extLst>
                  <a:ext uri="{0D108BD9-81ED-4DB2-BD59-A6C34878D82A}">
                    <a16:rowId xmlns:a16="http://schemas.microsoft.com/office/drawing/2014/main" val="3504184886"/>
                  </a:ext>
                </a:extLst>
              </a:tr>
              <a:tr h="707865">
                <a:tc>
                  <a:txBody>
                    <a:bodyPr/>
                    <a:lstStyle/>
                    <a:p>
                      <a:pPr>
                        <a:buNone/>
                      </a:pPr>
                      <a:r>
                        <a:rPr lang="en-IN" dirty="0"/>
                        <a:t>2</a:t>
                      </a:r>
                    </a:p>
                  </a:txBody>
                  <a:tcPr anchor="ctr">
                    <a:lnL>
                      <a:noFill/>
                    </a:lnL>
                    <a:lnR>
                      <a:noFill/>
                    </a:lnR>
                    <a:lnT>
                      <a:noFill/>
                    </a:lnT>
                    <a:lnB>
                      <a:noFill/>
                    </a:lnB>
                    <a:noFill/>
                  </a:tcPr>
                </a:tc>
                <a:tc>
                  <a:txBody>
                    <a:bodyPr/>
                    <a:lstStyle/>
                    <a:p>
                      <a:pPr>
                        <a:buNone/>
                      </a:pPr>
                      <a:r>
                        <a:rPr lang="en-IN" dirty="0"/>
                        <a:t>Battery Capacity</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2793979709"/>
                  </a:ext>
                </a:extLst>
              </a:tr>
              <a:tr h="404494">
                <a:tc>
                  <a:txBody>
                    <a:bodyPr/>
                    <a:lstStyle/>
                    <a:p>
                      <a:pPr>
                        <a:buNone/>
                      </a:pPr>
                      <a:r>
                        <a:rPr lang="en-IN"/>
                        <a:t>3</a:t>
                      </a:r>
                    </a:p>
                  </a:txBody>
                  <a:tcPr anchor="ctr">
                    <a:lnL>
                      <a:noFill/>
                    </a:lnL>
                    <a:lnR>
                      <a:noFill/>
                    </a:lnR>
                    <a:lnT>
                      <a:noFill/>
                    </a:lnT>
                    <a:lnB>
                      <a:noFill/>
                    </a:lnB>
                    <a:noFill/>
                  </a:tcPr>
                </a:tc>
                <a:tc>
                  <a:txBody>
                    <a:bodyPr/>
                    <a:lstStyle/>
                    <a:p>
                      <a:pPr>
                        <a:buNone/>
                      </a:pPr>
                      <a:r>
                        <a:rPr lang="en-IN"/>
                        <a:t>RAM</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336160218"/>
                  </a:ext>
                </a:extLst>
              </a:tr>
              <a:tr h="707865">
                <a:tc>
                  <a:txBody>
                    <a:bodyPr/>
                    <a:lstStyle/>
                    <a:p>
                      <a:pPr>
                        <a:buNone/>
                      </a:pPr>
                      <a:r>
                        <a:rPr lang="en-IN"/>
                        <a:t>4</a:t>
                      </a:r>
                    </a:p>
                  </a:txBody>
                  <a:tcPr anchor="ctr">
                    <a:lnL>
                      <a:noFill/>
                    </a:lnL>
                    <a:lnR>
                      <a:noFill/>
                    </a:lnR>
                    <a:lnT>
                      <a:noFill/>
                    </a:lnT>
                    <a:lnB>
                      <a:noFill/>
                    </a:lnB>
                    <a:noFill/>
                  </a:tcPr>
                </a:tc>
                <a:tc>
                  <a:txBody>
                    <a:bodyPr/>
                    <a:lstStyle/>
                    <a:p>
                      <a:pPr>
                        <a:buNone/>
                      </a:pPr>
                      <a:r>
                        <a:rPr lang="en-IN"/>
                        <a:t>Storage (Memory)</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2980110661"/>
                  </a:ext>
                </a:extLst>
              </a:tr>
              <a:tr h="404494">
                <a:tc>
                  <a:txBody>
                    <a:bodyPr/>
                    <a:lstStyle/>
                    <a:p>
                      <a:pPr>
                        <a:buNone/>
                      </a:pPr>
                      <a:r>
                        <a:rPr lang="en-IN"/>
                        <a:t>5</a:t>
                      </a:r>
                    </a:p>
                  </a:txBody>
                  <a:tcPr anchor="ctr">
                    <a:lnL>
                      <a:noFill/>
                    </a:lnL>
                    <a:lnR>
                      <a:noFill/>
                    </a:lnR>
                    <a:lnT>
                      <a:noFill/>
                    </a:lnT>
                    <a:lnB>
                      <a:noFill/>
                    </a:lnB>
                    <a:noFill/>
                  </a:tcPr>
                </a:tc>
                <a:tc>
                  <a:txBody>
                    <a:bodyPr/>
                    <a:lstStyle/>
                    <a:p>
                      <a:pPr>
                        <a:buNone/>
                      </a:pPr>
                      <a:r>
                        <a:rPr lang="en-IN"/>
                        <a:t>Processor</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extLst>
                  <a:ext uri="{0D108BD9-81ED-4DB2-BD59-A6C34878D82A}">
                    <a16:rowId xmlns:a16="http://schemas.microsoft.com/office/drawing/2014/main" val="2274883572"/>
                  </a:ext>
                </a:extLst>
              </a:tr>
              <a:tr h="1011235">
                <a:tc>
                  <a:txBody>
                    <a:bodyPr/>
                    <a:lstStyle/>
                    <a:p>
                      <a:pPr>
                        <a:buNone/>
                      </a:pPr>
                      <a:r>
                        <a:rPr lang="en-IN" dirty="0"/>
                        <a:t>6</a:t>
                      </a:r>
                    </a:p>
                  </a:txBody>
                  <a:tcPr anchor="ctr">
                    <a:lnL>
                      <a:noFill/>
                    </a:lnL>
                    <a:lnR>
                      <a:noFill/>
                    </a:lnR>
                    <a:lnT>
                      <a:noFill/>
                    </a:lnT>
                    <a:lnB>
                      <a:noFill/>
                    </a:lnB>
                    <a:noFill/>
                  </a:tcPr>
                </a:tc>
                <a:tc>
                  <a:txBody>
                    <a:bodyPr/>
                    <a:lstStyle/>
                    <a:p>
                      <a:pPr>
                        <a:buNone/>
                      </a:pPr>
                      <a:r>
                        <a:rPr lang="en-IN"/>
                        <a:t>Rear Camera MP</a:t>
                      </a:r>
                    </a:p>
                  </a:txBody>
                  <a:tcPr anchor="ctr">
                    <a:lnL>
                      <a:noFill/>
                    </a:lnL>
                    <a:lnR>
                      <a:noFill/>
                    </a:lnR>
                    <a:lnT>
                      <a:noFill/>
                    </a:lnT>
                    <a:lnB>
                      <a:noFill/>
                    </a:lnB>
                    <a:noFill/>
                  </a:tcPr>
                </a:tc>
                <a:tc>
                  <a:txBody>
                    <a:bodyPr/>
                    <a:lstStyle/>
                    <a:p>
                      <a:pPr>
                        <a:buNone/>
                      </a:pPr>
                      <a:r>
                        <a:rPr lang="en-IN" dirty="0"/>
                        <a:t>Medium</a:t>
                      </a:r>
                    </a:p>
                  </a:txBody>
                  <a:tcPr anchor="ctr">
                    <a:lnL>
                      <a:noFill/>
                    </a:lnL>
                    <a:lnR>
                      <a:noFill/>
                    </a:lnR>
                    <a:lnT>
                      <a:noFill/>
                    </a:lnT>
                    <a:lnB>
                      <a:noFill/>
                    </a:lnB>
                    <a:noFill/>
                  </a:tcPr>
                </a:tc>
                <a:extLst>
                  <a:ext uri="{0D108BD9-81ED-4DB2-BD59-A6C34878D82A}">
                    <a16:rowId xmlns:a16="http://schemas.microsoft.com/office/drawing/2014/main" val="130274172"/>
                  </a:ext>
                </a:extLst>
              </a:tr>
            </a:tbl>
          </a:graphicData>
        </a:graphic>
      </p:graphicFrame>
      <p:pic>
        <p:nvPicPr>
          <p:cNvPr id="17" name="Picture 16">
            <a:extLst>
              <a:ext uri="{FF2B5EF4-FFF2-40B4-BE49-F238E27FC236}">
                <a16:creationId xmlns:a16="http://schemas.microsoft.com/office/drawing/2014/main" id="{7DFCF385-F253-6511-6AE3-3014F0D2AB84}"/>
              </a:ext>
            </a:extLst>
          </p:cNvPr>
          <p:cNvPicPr>
            <a:picLocks noChangeAspect="1"/>
          </p:cNvPicPr>
          <p:nvPr/>
        </p:nvPicPr>
        <p:blipFill>
          <a:blip r:embed="rId2"/>
          <a:stretch>
            <a:fillRect/>
          </a:stretch>
        </p:blipFill>
        <p:spPr>
          <a:xfrm>
            <a:off x="3864079" y="1116129"/>
            <a:ext cx="8148482" cy="5491148"/>
          </a:xfrm>
          <a:prstGeom prst="rect">
            <a:avLst/>
          </a:prstGeom>
        </p:spPr>
      </p:pic>
    </p:spTree>
    <p:extLst>
      <p:ext uri="{BB962C8B-B14F-4D97-AF65-F5344CB8AC3E}">
        <p14:creationId xmlns:p14="http://schemas.microsoft.com/office/powerpoint/2010/main" val="1988725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4FFB-927D-E229-BA6D-804C802EC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8D9C0-8D62-28FC-D4A6-472D621E77C1}"/>
              </a:ext>
            </a:extLst>
          </p:cNvPr>
          <p:cNvSpPr>
            <a:spLocks noGrp="1"/>
          </p:cNvSpPr>
          <p:nvPr>
            <p:ph type="title"/>
          </p:nvPr>
        </p:nvSpPr>
        <p:spPr>
          <a:xfrm>
            <a:off x="179439" y="100480"/>
            <a:ext cx="11442290" cy="1138385"/>
          </a:xfrm>
        </p:spPr>
        <p:txBody>
          <a:bodyPr/>
          <a:lstStyle/>
          <a:p>
            <a:r>
              <a:rPr lang="en-IN" dirty="0"/>
              <a:t>Visualizations &amp; Insights </a:t>
            </a:r>
            <a:r>
              <a:rPr lang="en-IN" dirty="0" err="1"/>
              <a:t>Contd</a:t>
            </a:r>
            <a:r>
              <a:rPr lang="en-IN" dirty="0"/>
              <a:t>…</a:t>
            </a:r>
          </a:p>
        </p:txBody>
      </p:sp>
      <p:sp>
        <p:nvSpPr>
          <p:cNvPr id="5" name="Content Placeholder 4">
            <a:extLst>
              <a:ext uri="{FF2B5EF4-FFF2-40B4-BE49-F238E27FC236}">
                <a16:creationId xmlns:a16="http://schemas.microsoft.com/office/drawing/2014/main" id="{C4DBA374-5343-8C82-A29F-B963CB2D57BA}"/>
              </a:ext>
            </a:extLst>
          </p:cNvPr>
          <p:cNvSpPr>
            <a:spLocks noGrp="1"/>
          </p:cNvSpPr>
          <p:nvPr>
            <p:ph idx="1"/>
          </p:nvPr>
        </p:nvSpPr>
        <p:spPr>
          <a:xfrm>
            <a:off x="454742" y="1363509"/>
            <a:ext cx="3999271" cy="4351338"/>
          </a:xfrm>
        </p:spPr>
        <p:txBody>
          <a:bodyPr>
            <a:normAutofit fontScale="92500" lnSpcReduction="10000"/>
          </a:bodyPr>
          <a:lstStyle/>
          <a:p>
            <a:pPr marL="0" indent="0">
              <a:buNone/>
            </a:pPr>
            <a:r>
              <a:rPr lang="en-US" b="1" dirty="0"/>
              <a:t>Model Comparison Visualization</a:t>
            </a:r>
          </a:p>
          <a:p>
            <a:r>
              <a:rPr lang="en-US" dirty="0"/>
              <a:t>compares model performance using </a:t>
            </a:r>
            <a:r>
              <a:rPr lang="en-US" b="1" dirty="0"/>
              <a:t>RMSE values</a:t>
            </a:r>
            <a:r>
              <a:rPr lang="en-US" dirty="0"/>
              <a:t>.</a:t>
            </a:r>
          </a:p>
          <a:p>
            <a:pPr marL="0" indent="0">
              <a:buNone/>
            </a:pPr>
            <a:r>
              <a:rPr lang="en-US" i="1" u="sng" dirty="0"/>
              <a:t>Observation:</a:t>
            </a:r>
          </a:p>
          <a:p>
            <a:r>
              <a:rPr lang="en-US" dirty="0"/>
              <a:t>Random Forest performed better than Linear Regression because it captures complex feature relationships.</a:t>
            </a:r>
          </a:p>
        </p:txBody>
      </p:sp>
      <p:pic>
        <p:nvPicPr>
          <p:cNvPr id="11" name="Picture 10">
            <a:extLst>
              <a:ext uri="{FF2B5EF4-FFF2-40B4-BE49-F238E27FC236}">
                <a16:creationId xmlns:a16="http://schemas.microsoft.com/office/drawing/2014/main" id="{8B9A5CB5-8FC0-B632-3F1B-7382EA37724B}"/>
              </a:ext>
            </a:extLst>
          </p:cNvPr>
          <p:cNvPicPr>
            <a:picLocks noChangeAspect="1"/>
          </p:cNvPicPr>
          <p:nvPr/>
        </p:nvPicPr>
        <p:blipFill>
          <a:blip r:embed="rId2"/>
          <a:stretch>
            <a:fillRect/>
          </a:stretch>
        </p:blipFill>
        <p:spPr>
          <a:xfrm>
            <a:off x="4581832" y="1002892"/>
            <a:ext cx="7430729" cy="5492866"/>
          </a:xfrm>
          <a:prstGeom prst="rect">
            <a:avLst/>
          </a:prstGeom>
        </p:spPr>
      </p:pic>
    </p:spTree>
    <p:extLst>
      <p:ext uri="{BB962C8B-B14F-4D97-AF65-F5344CB8AC3E}">
        <p14:creationId xmlns:p14="http://schemas.microsoft.com/office/powerpoint/2010/main" val="1219404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45B76-CB3F-7F02-D70D-B5FCEB984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325DB-365C-71D8-9F5B-46256915D2ED}"/>
              </a:ext>
            </a:extLst>
          </p:cNvPr>
          <p:cNvSpPr>
            <a:spLocks noGrp="1"/>
          </p:cNvSpPr>
          <p:nvPr>
            <p:ph type="title"/>
          </p:nvPr>
        </p:nvSpPr>
        <p:spPr>
          <a:xfrm>
            <a:off x="179439" y="100480"/>
            <a:ext cx="11442290" cy="1138385"/>
          </a:xfrm>
        </p:spPr>
        <p:txBody>
          <a:bodyPr/>
          <a:lstStyle/>
          <a:p>
            <a:r>
              <a:rPr lang="en-IN" dirty="0"/>
              <a:t>Visualizations &amp; Insights </a:t>
            </a:r>
            <a:r>
              <a:rPr lang="en-IN" dirty="0" err="1"/>
              <a:t>Contd</a:t>
            </a:r>
            <a:r>
              <a:rPr lang="en-IN" dirty="0"/>
              <a:t>…</a:t>
            </a:r>
          </a:p>
        </p:txBody>
      </p:sp>
      <p:pic>
        <p:nvPicPr>
          <p:cNvPr id="7" name="Picture 6">
            <a:extLst>
              <a:ext uri="{FF2B5EF4-FFF2-40B4-BE49-F238E27FC236}">
                <a16:creationId xmlns:a16="http://schemas.microsoft.com/office/drawing/2014/main" id="{40B6F906-ED4F-03B9-4E93-8D8D28DF6EA2}"/>
              </a:ext>
            </a:extLst>
          </p:cNvPr>
          <p:cNvPicPr>
            <a:picLocks noChangeAspect="1"/>
          </p:cNvPicPr>
          <p:nvPr/>
        </p:nvPicPr>
        <p:blipFill>
          <a:blip r:embed="rId2"/>
          <a:stretch>
            <a:fillRect/>
          </a:stretch>
        </p:blipFill>
        <p:spPr>
          <a:xfrm>
            <a:off x="323749" y="1238865"/>
            <a:ext cx="5418290" cy="4618120"/>
          </a:xfrm>
          <a:prstGeom prst="rect">
            <a:avLst/>
          </a:prstGeom>
          <a:ln w="3175">
            <a:solidFill>
              <a:schemeClr val="tx1"/>
            </a:solidFill>
          </a:ln>
        </p:spPr>
      </p:pic>
      <p:pic>
        <p:nvPicPr>
          <p:cNvPr id="9" name="Picture 8">
            <a:extLst>
              <a:ext uri="{FF2B5EF4-FFF2-40B4-BE49-F238E27FC236}">
                <a16:creationId xmlns:a16="http://schemas.microsoft.com/office/drawing/2014/main" id="{336C4DAE-D970-EC46-7485-C7FF316BEF46}"/>
              </a:ext>
            </a:extLst>
          </p:cNvPr>
          <p:cNvPicPr>
            <a:picLocks noChangeAspect="1"/>
          </p:cNvPicPr>
          <p:nvPr/>
        </p:nvPicPr>
        <p:blipFill>
          <a:blip r:embed="rId3"/>
          <a:stretch>
            <a:fillRect/>
          </a:stretch>
        </p:blipFill>
        <p:spPr>
          <a:xfrm>
            <a:off x="6226301" y="1238865"/>
            <a:ext cx="5539738" cy="4595258"/>
          </a:xfrm>
          <a:prstGeom prst="rect">
            <a:avLst/>
          </a:prstGeom>
          <a:ln w="3175">
            <a:solidFill>
              <a:schemeClr val="tx1"/>
            </a:solidFill>
          </a:ln>
        </p:spPr>
      </p:pic>
    </p:spTree>
    <p:extLst>
      <p:ext uri="{BB962C8B-B14F-4D97-AF65-F5344CB8AC3E}">
        <p14:creationId xmlns:p14="http://schemas.microsoft.com/office/powerpoint/2010/main" val="3983879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EC80-B4D6-01D0-6EE7-372AD1F3E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07DED-CC88-A36D-04DA-D65E2527FCF3}"/>
              </a:ext>
            </a:extLst>
          </p:cNvPr>
          <p:cNvSpPr>
            <a:spLocks noGrp="1"/>
          </p:cNvSpPr>
          <p:nvPr>
            <p:ph type="title"/>
          </p:nvPr>
        </p:nvSpPr>
        <p:spPr>
          <a:xfrm>
            <a:off x="228600" y="100480"/>
            <a:ext cx="11442290" cy="1138385"/>
          </a:xfrm>
        </p:spPr>
        <p:txBody>
          <a:bodyPr/>
          <a:lstStyle/>
          <a:p>
            <a:r>
              <a:rPr lang="en-US" dirty="0"/>
              <a:t>Key Insights from the Analysis</a:t>
            </a:r>
          </a:p>
        </p:txBody>
      </p:sp>
      <p:sp>
        <p:nvSpPr>
          <p:cNvPr id="5" name="Content Placeholder 4">
            <a:extLst>
              <a:ext uri="{FF2B5EF4-FFF2-40B4-BE49-F238E27FC236}">
                <a16:creationId xmlns:a16="http://schemas.microsoft.com/office/drawing/2014/main" id="{4DD5EB92-565A-0328-389E-5921AA9B3F76}"/>
              </a:ext>
            </a:extLst>
          </p:cNvPr>
          <p:cNvSpPr>
            <a:spLocks noGrp="1"/>
          </p:cNvSpPr>
          <p:nvPr>
            <p:ph idx="1"/>
          </p:nvPr>
        </p:nvSpPr>
        <p:spPr>
          <a:xfrm>
            <a:off x="347816" y="1422503"/>
            <a:ext cx="10515600" cy="4351338"/>
          </a:xfrm>
        </p:spPr>
        <p:txBody>
          <a:bodyPr/>
          <a:lstStyle/>
          <a:p>
            <a:r>
              <a:rPr lang="en-US" dirty="0"/>
              <a:t>Smartphones with </a:t>
            </a:r>
            <a:r>
              <a:rPr lang="en-US" b="1" dirty="0"/>
              <a:t>higher RAM and storage</a:t>
            </a:r>
            <a:r>
              <a:rPr lang="en-US" dirty="0"/>
              <a:t> tend to have higher prices.</a:t>
            </a:r>
          </a:p>
          <a:p>
            <a:r>
              <a:rPr lang="en-US" b="1" dirty="0"/>
              <a:t>Camera specifications</a:t>
            </a:r>
            <a:r>
              <a:rPr lang="en-US" dirty="0"/>
              <a:t>, especially front camera megapixels, significantly affect pricing.</a:t>
            </a:r>
          </a:p>
          <a:p>
            <a:r>
              <a:rPr lang="en-US" dirty="0"/>
              <a:t>Phones with </a:t>
            </a:r>
            <a:r>
              <a:rPr lang="en-US" b="1" dirty="0"/>
              <a:t>larger batteries</a:t>
            </a:r>
            <a:r>
              <a:rPr lang="en-US" dirty="0"/>
              <a:t> often belong to mid-range or premium segments.</a:t>
            </a:r>
          </a:p>
          <a:p>
            <a:r>
              <a:rPr lang="en-US" b="1" dirty="0"/>
              <a:t>Processor type</a:t>
            </a:r>
            <a:r>
              <a:rPr lang="en-US" dirty="0"/>
              <a:t> influences pricing due to performance differences.</a:t>
            </a:r>
          </a:p>
          <a:p>
            <a:endParaRPr lang="en-IN" dirty="0"/>
          </a:p>
        </p:txBody>
      </p:sp>
    </p:spTree>
    <p:extLst>
      <p:ext uri="{BB962C8B-B14F-4D97-AF65-F5344CB8AC3E}">
        <p14:creationId xmlns:p14="http://schemas.microsoft.com/office/powerpoint/2010/main" val="597033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60B7-80D0-F723-CBCD-472136C6C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1FC03-7D57-7DAE-7503-8C7BB767ADBA}"/>
              </a:ext>
            </a:extLst>
          </p:cNvPr>
          <p:cNvSpPr>
            <a:spLocks noGrp="1"/>
          </p:cNvSpPr>
          <p:nvPr>
            <p:ph type="title"/>
          </p:nvPr>
        </p:nvSpPr>
        <p:spPr>
          <a:xfrm>
            <a:off x="169607" y="80815"/>
            <a:ext cx="11442290" cy="1138385"/>
          </a:xfrm>
        </p:spPr>
        <p:txBody>
          <a:bodyPr/>
          <a:lstStyle/>
          <a:p>
            <a:r>
              <a:rPr lang="en-IN" dirty="0"/>
              <a:t>Recommendations for the Organization</a:t>
            </a:r>
            <a:endParaRPr lang="en-US" dirty="0"/>
          </a:p>
        </p:txBody>
      </p:sp>
      <p:sp>
        <p:nvSpPr>
          <p:cNvPr id="5" name="Content Placeholder 4">
            <a:extLst>
              <a:ext uri="{FF2B5EF4-FFF2-40B4-BE49-F238E27FC236}">
                <a16:creationId xmlns:a16="http://schemas.microsoft.com/office/drawing/2014/main" id="{36977211-D774-A12C-BE57-73CF563B1C97}"/>
              </a:ext>
            </a:extLst>
          </p:cNvPr>
          <p:cNvSpPr>
            <a:spLocks noGrp="1"/>
          </p:cNvSpPr>
          <p:nvPr>
            <p:ph idx="1"/>
          </p:nvPr>
        </p:nvSpPr>
        <p:spPr>
          <a:xfrm>
            <a:off x="347816" y="1219200"/>
            <a:ext cx="10515600" cy="4554641"/>
          </a:xfrm>
        </p:spPr>
        <p:txBody>
          <a:bodyPr>
            <a:normAutofit fontScale="25000" lnSpcReduction="20000"/>
          </a:bodyPr>
          <a:lstStyle/>
          <a:p>
            <a:pPr marL="0" indent="0">
              <a:buNone/>
            </a:pPr>
            <a:r>
              <a:rPr lang="en-IN" sz="7200" b="1" dirty="0"/>
              <a:t>Improve Camera Technology</a:t>
            </a:r>
          </a:p>
          <a:p>
            <a:r>
              <a:rPr lang="en-IN" sz="7200" dirty="0"/>
              <a:t>Higher megapixel cameras significantly increase perceived value.</a:t>
            </a:r>
          </a:p>
          <a:p>
            <a:r>
              <a:rPr lang="en-IN" sz="7200" dirty="0"/>
              <a:t>Recommendation: Focus on </a:t>
            </a:r>
            <a:r>
              <a:rPr lang="en-IN" sz="7200" b="1" dirty="0"/>
              <a:t>high-quality front cameras</a:t>
            </a:r>
            <a:r>
              <a:rPr lang="en-IN" sz="7200" dirty="0"/>
              <a:t> for premium devices.</a:t>
            </a:r>
          </a:p>
          <a:p>
            <a:pPr marL="0" indent="0">
              <a:buNone/>
            </a:pPr>
            <a:r>
              <a:rPr lang="en-IN" sz="7200" b="1" dirty="0"/>
              <a:t>Optimize RAM and Storage Combinations</a:t>
            </a:r>
          </a:p>
          <a:p>
            <a:r>
              <a:rPr lang="en-IN" sz="7200" dirty="0"/>
              <a:t>Best-performing configurations include:</a:t>
            </a:r>
          </a:p>
          <a:p>
            <a:r>
              <a:rPr lang="en-IN" sz="7200" dirty="0"/>
              <a:t>6GB RAM + 128GB Storage</a:t>
            </a:r>
          </a:p>
          <a:p>
            <a:r>
              <a:rPr lang="en-IN" sz="7200" dirty="0"/>
              <a:t>8GB RAM + 256GB Storage</a:t>
            </a:r>
          </a:p>
          <a:p>
            <a:r>
              <a:rPr lang="en-IN" sz="7200" dirty="0"/>
              <a:t>These combinations balance </a:t>
            </a:r>
            <a:r>
              <a:rPr lang="en-IN" sz="7200" b="1" dirty="0"/>
              <a:t>performance and price</a:t>
            </a:r>
            <a:r>
              <a:rPr lang="en-IN" sz="7200" dirty="0"/>
              <a:t>.</a:t>
            </a:r>
          </a:p>
          <a:p>
            <a:pPr marL="0" indent="0">
              <a:buNone/>
            </a:pPr>
            <a:r>
              <a:rPr lang="en-IN" sz="7200" b="1" dirty="0"/>
              <a:t>Use Premium Processors for High-End Models</a:t>
            </a:r>
          </a:p>
          <a:p>
            <a:r>
              <a:rPr lang="en-IN" sz="7200" dirty="0"/>
              <a:t>Processor type strongly influences device cost.</a:t>
            </a:r>
          </a:p>
          <a:p>
            <a:r>
              <a:rPr lang="en-IN" sz="7200" dirty="0"/>
              <a:t>Recommended chipsets:</a:t>
            </a:r>
          </a:p>
          <a:p>
            <a:r>
              <a:rPr lang="en-IN" sz="7200" dirty="0"/>
              <a:t>Snapdragon</a:t>
            </a:r>
          </a:p>
          <a:p>
            <a:r>
              <a:rPr lang="en-IN" sz="7200" dirty="0"/>
              <a:t>Dimensity</a:t>
            </a:r>
          </a:p>
          <a:p>
            <a:r>
              <a:rPr lang="en-IN" sz="7200" dirty="0"/>
              <a:t>Tensor</a:t>
            </a:r>
          </a:p>
          <a:p>
            <a:pPr marL="0" indent="0">
              <a:buNone/>
            </a:pPr>
            <a:r>
              <a:rPr lang="en-IN" sz="7200" b="1" dirty="0"/>
              <a:t>Increase Battery Capacity</a:t>
            </a:r>
          </a:p>
          <a:p>
            <a:r>
              <a:rPr lang="en-IN" sz="7200" dirty="0"/>
              <a:t>Large batteries (≥5000 </a:t>
            </a:r>
            <a:r>
              <a:rPr lang="en-IN" sz="7200" dirty="0" err="1"/>
              <a:t>mAh</a:t>
            </a:r>
            <a:r>
              <a:rPr lang="en-IN" sz="7200" dirty="0"/>
              <a:t>) improve device attractiveness in mid-range segments.</a:t>
            </a:r>
          </a:p>
          <a:p>
            <a:endParaRPr lang="en-IN" dirty="0"/>
          </a:p>
        </p:txBody>
      </p:sp>
    </p:spTree>
    <p:extLst>
      <p:ext uri="{BB962C8B-B14F-4D97-AF65-F5344CB8AC3E}">
        <p14:creationId xmlns:p14="http://schemas.microsoft.com/office/powerpoint/2010/main" val="1504697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7EC2-D6E1-7193-9AD5-D8430831C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B774D-BD59-60E4-7378-4A5B86DE6DEB}"/>
              </a:ext>
            </a:extLst>
          </p:cNvPr>
          <p:cNvSpPr>
            <a:spLocks noGrp="1"/>
          </p:cNvSpPr>
          <p:nvPr>
            <p:ph type="title"/>
          </p:nvPr>
        </p:nvSpPr>
        <p:spPr>
          <a:xfrm>
            <a:off x="297427" y="356119"/>
            <a:ext cx="11442290" cy="1138385"/>
          </a:xfrm>
        </p:spPr>
        <p:txBody>
          <a:bodyPr/>
          <a:lstStyle/>
          <a:p>
            <a:r>
              <a:rPr lang="en-IN" dirty="0"/>
              <a:t>Conclusion</a:t>
            </a:r>
            <a:endParaRPr lang="en-US" dirty="0"/>
          </a:p>
        </p:txBody>
      </p:sp>
      <p:sp>
        <p:nvSpPr>
          <p:cNvPr id="5" name="Content Placeholder 4">
            <a:extLst>
              <a:ext uri="{FF2B5EF4-FFF2-40B4-BE49-F238E27FC236}">
                <a16:creationId xmlns:a16="http://schemas.microsoft.com/office/drawing/2014/main" id="{C269789C-5225-7280-BF44-A763221F77CB}"/>
              </a:ext>
            </a:extLst>
          </p:cNvPr>
          <p:cNvSpPr>
            <a:spLocks noGrp="1"/>
          </p:cNvSpPr>
          <p:nvPr>
            <p:ph idx="1"/>
          </p:nvPr>
        </p:nvSpPr>
        <p:spPr>
          <a:xfrm>
            <a:off x="396977" y="1740311"/>
            <a:ext cx="10515600" cy="2910348"/>
          </a:xfrm>
        </p:spPr>
        <p:txBody>
          <a:bodyPr>
            <a:normAutofit/>
          </a:bodyPr>
          <a:lstStyle/>
          <a:p>
            <a:pPr marL="0" indent="0">
              <a:buNone/>
            </a:pPr>
            <a:r>
              <a:rPr lang="en-US" dirty="0">
                <a:ea typeface="+mj-ea"/>
                <a:cs typeface="+mj-cs"/>
              </a:rPr>
              <a:t>This project demonstrates how machine learning can effectively predict smartphone prices based on device specifications. Feature extraction techniques helped identify the most influential factors affecting price. Among the models evaluated, Random Forest provided the most accurate predictions. The insights derived from this analysis can help manufacturers and retailers design better pricing strategies and optimize smartphone configurations.</a:t>
            </a:r>
            <a:endParaRPr lang="en-IN" dirty="0">
              <a:ea typeface="+mj-ea"/>
              <a:cs typeface="+mj-cs"/>
            </a:endParaRPr>
          </a:p>
        </p:txBody>
      </p:sp>
    </p:spTree>
    <p:extLst>
      <p:ext uri="{BB962C8B-B14F-4D97-AF65-F5344CB8AC3E}">
        <p14:creationId xmlns:p14="http://schemas.microsoft.com/office/powerpoint/2010/main" val="390502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56B1571-B0A7-C76D-C8CB-8F5514D50DF5}"/>
              </a:ext>
            </a:extLst>
          </p:cNvPr>
          <p:cNvSpPr>
            <a:spLocks noGrp="1"/>
          </p:cNvSpPr>
          <p:nvPr>
            <p:ph type="subTitle" idx="1"/>
          </p:nvPr>
        </p:nvSpPr>
        <p:spPr>
          <a:xfrm>
            <a:off x="1415846" y="4762245"/>
            <a:ext cx="9144000" cy="1655762"/>
          </a:xfrm>
        </p:spPr>
        <p:txBody>
          <a:bodyPr>
            <a:normAutofit/>
          </a:bodyPr>
          <a:lstStyle/>
          <a:p>
            <a:r>
              <a:rPr lang="en-US" sz="5400" dirty="0">
                <a:ln w="0"/>
                <a:solidFill>
                  <a:schemeClr val="accent1"/>
                </a:solidFill>
                <a:effectLst>
                  <a:outerShdw blurRad="38100" dist="25400" dir="5400000" algn="ctr" rotWithShape="0">
                    <a:srgbClr val="6E747A">
                      <a:alpha val="43000"/>
                    </a:srgbClr>
                  </a:outerShdw>
                </a:effectLst>
              </a:rPr>
              <a:t>Thank You…</a:t>
            </a:r>
            <a:endParaRPr lang="en-IN" sz="54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663516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TotalTime>
  <Words>875</Words>
  <Application>Microsoft Office PowerPoint</Application>
  <PresentationFormat>Widescreen</PresentationFormat>
  <Paragraphs>151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Courier New</vt:lpstr>
      <vt:lpstr>Office Theme</vt:lpstr>
      <vt:lpstr>NextHikes IT Solutions    Mobile Phone Price Prediction Using Machine Learning and Feature Importance Analysis</vt:lpstr>
      <vt:lpstr>Abstract</vt:lpstr>
      <vt:lpstr>Introduction</vt:lpstr>
      <vt:lpstr>Dataset Description</vt:lpstr>
      <vt:lpstr>Data Exploration</vt:lpstr>
      <vt:lpstr>Data Preprocessing</vt:lpstr>
      <vt:lpstr>Feature Engineering</vt:lpstr>
      <vt:lpstr>Feature Extraction Techniques</vt:lpstr>
      <vt:lpstr>Machine Learning Models</vt:lpstr>
      <vt:lpstr>Model Evaluation</vt:lpstr>
      <vt:lpstr>Visualizations &amp; Insights</vt:lpstr>
      <vt:lpstr>Visualizations &amp; Insights Contd…</vt:lpstr>
      <vt:lpstr>Visualizations &amp; Insights Contd…</vt:lpstr>
      <vt:lpstr>Visualizations &amp; Insights Contd…</vt:lpstr>
      <vt:lpstr>Visualizations &amp; Insights Contd…</vt:lpstr>
      <vt:lpstr>Key Insights from the Analysis</vt:lpstr>
      <vt:lpstr>Recommendations for the Organization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parul srivastava</dc:creator>
  <cp:lastModifiedBy>parul srivastava</cp:lastModifiedBy>
  <cp:revision>3</cp:revision>
  <dcterms:created xsi:type="dcterms:W3CDTF">2025-10-23T16:16:12Z</dcterms:created>
  <dcterms:modified xsi:type="dcterms:W3CDTF">2026-03-08T22:36:05Z</dcterms:modified>
</cp:coreProperties>
</file>